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  <p:embeddedFont>
      <p:font typeface="Roboto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8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496040"/>
            <a:ext cx="3915785" cy="716029"/>
          </a:xfrm>
          <a:custGeom>
            <a:avLst/>
            <a:gdLst/>
            <a:ahLst/>
            <a:cxnLst/>
            <a:rect r="r" b="b" t="t" l="l"/>
            <a:pathLst>
              <a:path h="716029" w="3915785">
                <a:moveTo>
                  <a:pt x="0" y="0"/>
                </a:moveTo>
                <a:lnTo>
                  <a:pt x="3915785" y="0"/>
                </a:lnTo>
                <a:lnTo>
                  <a:pt x="3915785" y="716029"/>
                </a:lnTo>
                <a:lnTo>
                  <a:pt x="0" y="716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36644" y="427491"/>
            <a:ext cx="3732431" cy="853127"/>
          </a:xfrm>
          <a:custGeom>
            <a:avLst/>
            <a:gdLst/>
            <a:ahLst/>
            <a:cxnLst/>
            <a:rect r="r" b="b" t="t" l="l"/>
            <a:pathLst>
              <a:path h="853127" w="3732431">
                <a:moveTo>
                  <a:pt x="0" y="0"/>
                </a:moveTo>
                <a:lnTo>
                  <a:pt x="3732432" y="0"/>
                </a:lnTo>
                <a:lnTo>
                  <a:pt x="3732432" y="853127"/>
                </a:lnTo>
                <a:lnTo>
                  <a:pt x="0" y="853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67911" y="3522428"/>
            <a:ext cx="14393498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Вебплатформа для багатокористувацької гри в Alias із підтримкою офіційних і користувацьких карт та правил гри та засобів соціальної взаємодії: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Front-end, DevOps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55279" y="2432142"/>
            <a:ext cx="2732251" cy="740034"/>
            <a:chOff x="0" y="0"/>
            <a:chExt cx="719605" cy="1949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9605" cy="194906"/>
            </a:xfrm>
            <a:custGeom>
              <a:avLst/>
              <a:gdLst/>
              <a:ahLst/>
              <a:cxnLst/>
              <a:rect r="r" b="b" t="t" l="l"/>
              <a:pathLst>
                <a:path h="194906" w="719605">
                  <a:moveTo>
                    <a:pt x="48170" y="0"/>
                  </a:moveTo>
                  <a:lnTo>
                    <a:pt x="671435" y="0"/>
                  </a:lnTo>
                  <a:cubicBezTo>
                    <a:pt x="698039" y="0"/>
                    <a:pt x="719605" y="21566"/>
                    <a:pt x="719605" y="48170"/>
                  </a:cubicBezTo>
                  <a:lnTo>
                    <a:pt x="719605" y="146736"/>
                  </a:lnTo>
                  <a:cubicBezTo>
                    <a:pt x="719605" y="173340"/>
                    <a:pt x="698039" y="194906"/>
                    <a:pt x="671435" y="194906"/>
                  </a:cubicBezTo>
                  <a:lnTo>
                    <a:pt x="48170" y="194906"/>
                  </a:lnTo>
                  <a:cubicBezTo>
                    <a:pt x="21566" y="194906"/>
                    <a:pt x="0" y="173340"/>
                    <a:pt x="0" y="146736"/>
                  </a:cubicBezTo>
                  <a:lnTo>
                    <a:pt x="0" y="48170"/>
                  </a:lnTo>
                  <a:cubicBezTo>
                    <a:pt x="0" y="21566"/>
                    <a:pt x="21566" y="0"/>
                    <a:pt x="48170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19605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99899" y="2558954"/>
            <a:ext cx="279311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Тема роботи: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7911" y="7800135"/>
            <a:ext cx="60022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Кожанов Олександр Юрійович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0442" y="7191082"/>
            <a:ext cx="595759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доц. кафедри ПІ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61411" y="9069338"/>
            <a:ext cx="3765177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14 липня 2026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55279" y="6241498"/>
            <a:ext cx="2084220" cy="740034"/>
            <a:chOff x="0" y="0"/>
            <a:chExt cx="548930" cy="1949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930" cy="194906"/>
            </a:xfrm>
            <a:custGeom>
              <a:avLst/>
              <a:gdLst/>
              <a:ahLst/>
              <a:cxnLst/>
              <a:rect r="r" b="b" t="t" l="l"/>
              <a:pathLst>
                <a:path h="194906" w="548930">
                  <a:moveTo>
                    <a:pt x="63147" y="0"/>
                  </a:moveTo>
                  <a:lnTo>
                    <a:pt x="485783" y="0"/>
                  </a:lnTo>
                  <a:cubicBezTo>
                    <a:pt x="520658" y="0"/>
                    <a:pt x="548930" y="28272"/>
                    <a:pt x="548930" y="63147"/>
                  </a:cubicBezTo>
                  <a:lnTo>
                    <a:pt x="548930" y="131759"/>
                  </a:lnTo>
                  <a:cubicBezTo>
                    <a:pt x="548930" y="148507"/>
                    <a:pt x="542277" y="164568"/>
                    <a:pt x="530435" y="176411"/>
                  </a:cubicBezTo>
                  <a:cubicBezTo>
                    <a:pt x="518592" y="188253"/>
                    <a:pt x="502531" y="194906"/>
                    <a:pt x="485783" y="194906"/>
                  </a:cubicBezTo>
                  <a:lnTo>
                    <a:pt x="63147" y="194906"/>
                  </a:lnTo>
                  <a:cubicBezTo>
                    <a:pt x="46400" y="194906"/>
                    <a:pt x="30338" y="188253"/>
                    <a:pt x="18495" y="176411"/>
                  </a:cubicBezTo>
                  <a:cubicBezTo>
                    <a:pt x="6653" y="164568"/>
                    <a:pt x="0" y="148507"/>
                    <a:pt x="0" y="131759"/>
                  </a:cubicBezTo>
                  <a:lnTo>
                    <a:pt x="0" y="63147"/>
                  </a:lnTo>
                  <a:cubicBezTo>
                    <a:pt x="0" y="46400"/>
                    <a:pt x="6653" y="30338"/>
                    <a:pt x="18495" y="18495"/>
                  </a:cubicBezTo>
                  <a:cubicBezTo>
                    <a:pt x="30338" y="6653"/>
                    <a:pt x="46400" y="0"/>
                    <a:pt x="63147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48930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299899" y="6368310"/>
            <a:ext cx="165623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Виконав: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30442" y="6241498"/>
            <a:ext cx="2176825" cy="740034"/>
            <a:chOff x="0" y="0"/>
            <a:chExt cx="573320" cy="1949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3320" cy="194906"/>
            </a:xfrm>
            <a:custGeom>
              <a:avLst/>
              <a:gdLst/>
              <a:ahLst/>
              <a:cxnLst/>
              <a:rect r="r" b="b" t="t" l="l"/>
              <a:pathLst>
                <a:path h="194906" w="573320">
                  <a:moveTo>
                    <a:pt x="60461" y="0"/>
                  </a:moveTo>
                  <a:lnTo>
                    <a:pt x="512859" y="0"/>
                  </a:lnTo>
                  <a:cubicBezTo>
                    <a:pt x="528895" y="0"/>
                    <a:pt x="544273" y="6370"/>
                    <a:pt x="555612" y="17709"/>
                  </a:cubicBezTo>
                  <a:cubicBezTo>
                    <a:pt x="566950" y="29047"/>
                    <a:pt x="573320" y="44426"/>
                    <a:pt x="573320" y="60461"/>
                  </a:cubicBezTo>
                  <a:lnTo>
                    <a:pt x="573320" y="134445"/>
                  </a:lnTo>
                  <a:cubicBezTo>
                    <a:pt x="573320" y="150480"/>
                    <a:pt x="566950" y="165859"/>
                    <a:pt x="555612" y="177197"/>
                  </a:cubicBezTo>
                  <a:cubicBezTo>
                    <a:pt x="544273" y="188536"/>
                    <a:pt x="528895" y="194906"/>
                    <a:pt x="512859" y="194906"/>
                  </a:cubicBezTo>
                  <a:lnTo>
                    <a:pt x="60461" y="194906"/>
                  </a:lnTo>
                  <a:cubicBezTo>
                    <a:pt x="44426" y="194906"/>
                    <a:pt x="29047" y="188536"/>
                    <a:pt x="17709" y="177197"/>
                  </a:cubicBezTo>
                  <a:cubicBezTo>
                    <a:pt x="6370" y="165859"/>
                    <a:pt x="0" y="150480"/>
                    <a:pt x="0" y="134445"/>
                  </a:cubicBezTo>
                  <a:lnTo>
                    <a:pt x="0" y="60461"/>
                  </a:lnTo>
                  <a:cubicBezTo>
                    <a:pt x="0" y="44426"/>
                    <a:pt x="6370" y="29047"/>
                    <a:pt x="17709" y="17709"/>
                  </a:cubicBezTo>
                  <a:cubicBezTo>
                    <a:pt x="29047" y="6370"/>
                    <a:pt x="44426" y="0"/>
                    <a:pt x="60461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73320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475062" y="6368310"/>
            <a:ext cx="18396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Керівник: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91878" y="7191082"/>
            <a:ext cx="60022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ПЗПІ-22-4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30442" y="7800135"/>
            <a:ext cx="60022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Колесников Дмитро Олегович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6789" y="2795033"/>
            <a:ext cx="5567302" cy="740034"/>
            <a:chOff x="0" y="0"/>
            <a:chExt cx="1466285" cy="1949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6285" cy="194906"/>
            </a:xfrm>
            <a:custGeom>
              <a:avLst/>
              <a:gdLst/>
              <a:ahLst/>
              <a:cxnLst/>
              <a:rect r="r" b="b" t="t" l="l"/>
              <a:pathLst>
                <a:path h="194906" w="1466285">
                  <a:moveTo>
                    <a:pt x="23640" y="0"/>
                  </a:moveTo>
                  <a:lnTo>
                    <a:pt x="1442645" y="0"/>
                  </a:lnTo>
                  <a:cubicBezTo>
                    <a:pt x="1448915" y="0"/>
                    <a:pt x="1454928" y="2491"/>
                    <a:pt x="1459361" y="6924"/>
                  </a:cubicBezTo>
                  <a:cubicBezTo>
                    <a:pt x="1463795" y="11357"/>
                    <a:pt x="1466285" y="17370"/>
                    <a:pt x="1466285" y="23640"/>
                  </a:cubicBezTo>
                  <a:lnTo>
                    <a:pt x="1466285" y="171266"/>
                  </a:lnTo>
                  <a:cubicBezTo>
                    <a:pt x="1466285" y="177536"/>
                    <a:pt x="1463795" y="183549"/>
                    <a:pt x="1459361" y="187982"/>
                  </a:cubicBezTo>
                  <a:cubicBezTo>
                    <a:pt x="1454928" y="192415"/>
                    <a:pt x="1448915" y="194906"/>
                    <a:pt x="1442645" y="194906"/>
                  </a:cubicBezTo>
                  <a:lnTo>
                    <a:pt x="23640" y="194906"/>
                  </a:lnTo>
                  <a:cubicBezTo>
                    <a:pt x="17370" y="194906"/>
                    <a:pt x="11357" y="192415"/>
                    <a:pt x="6924" y="187982"/>
                  </a:cubicBezTo>
                  <a:cubicBezTo>
                    <a:pt x="2491" y="183549"/>
                    <a:pt x="0" y="177536"/>
                    <a:pt x="0" y="171266"/>
                  </a:cubicBezTo>
                  <a:lnTo>
                    <a:pt x="0" y="23640"/>
                  </a:lnTo>
                  <a:cubicBezTo>
                    <a:pt x="0" y="17370"/>
                    <a:pt x="2491" y="11357"/>
                    <a:pt x="6924" y="6924"/>
                  </a:cubicBezTo>
                  <a:cubicBezTo>
                    <a:pt x="11357" y="2491"/>
                    <a:pt x="17370" y="0"/>
                    <a:pt x="23640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66285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51409" y="2921845"/>
            <a:ext cx="532268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Мета та актуальність роботи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6789" y="4072846"/>
            <a:ext cx="14874422" cy="22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Створення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інтерактивного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масштабованого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та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стійкого до розривів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з'єднання вебінтерфейсу, що забезпечує комфортну гру в режимі реального часу та відповідає зростаючому попиту на перенесення командних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ігор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в онлайн-середовище.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06789" y="1355799"/>
            <a:ext cx="3495676" cy="740034"/>
            <a:chOff x="0" y="0"/>
            <a:chExt cx="920672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0672" cy="194906"/>
            </a:xfrm>
            <a:custGeom>
              <a:avLst/>
              <a:gdLst/>
              <a:ahLst/>
              <a:cxnLst/>
              <a:rect r="r" b="b" t="t" l="l"/>
              <a:pathLst>
                <a:path h="194906" w="920672">
                  <a:moveTo>
                    <a:pt x="37650" y="0"/>
                  </a:moveTo>
                  <a:lnTo>
                    <a:pt x="883022" y="0"/>
                  </a:lnTo>
                  <a:cubicBezTo>
                    <a:pt x="893007" y="0"/>
                    <a:pt x="902584" y="3967"/>
                    <a:pt x="909645" y="11027"/>
                  </a:cubicBezTo>
                  <a:cubicBezTo>
                    <a:pt x="916705" y="18088"/>
                    <a:pt x="920672" y="27665"/>
                    <a:pt x="920672" y="37650"/>
                  </a:cubicBezTo>
                  <a:lnTo>
                    <a:pt x="920672" y="157256"/>
                  </a:lnTo>
                  <a:cubicBezTo>
                    <a:pt x="920672" y="178050"/>
                    <a:pt x="903815" y="194906"/>
                    <a:pt x="883022" y="194906"/>
                  </a:cubicBezTo>
                  <a:lnTo>
                    <a:pt x="37650" y="194906"/>
                  </a:lnTo>
                  <a:cubicBezTo>
                    <a:pt x="27665" y="194906"/>
                    <a:pt x="18088" y="190939"/>
                    <a:pt x="11027" y="183879"/>
                  </a:cubicBezTo>
                  <a:cubicBezTo>
                    <a:pt x="3967" y="176818"/>
                    <a:pt x="0" y="167241"/>
                    <a:pt x="0" y="157256"/>
                  </a:cubicBezTo>
                  <a:lnTo>
                    <a:pt x="0" y="37650"/>
                  </a:lnTo>
                  <a:cubicBezTo>
                    <a:pt x="0" y="27665"/>
                    <a:pt x="3967" y="18088"/>
                    <a:pt x="11027" y="11027"/>
                  </a:cubicBezTo>
                  <a:cubicBezTo>
                    <a:pt x="18088" y="3967"/>
                    <a:pt x="27665" y="0"/>
                    <a:pt x="37650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20672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51409" y="1482611"/>
            <a:ext cx="325105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Аналіз проблеми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6789" y="2632217"/>
            <a:ext cx="14874422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більшіс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ть існуючих мобільних додатків Alias використовують концепцію гри на одному пристрої, що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унеможливлює дистанційну гру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6789" y="4600207"/>
            <a:ext cx="14874422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популярні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браузерні аналоги (наприклад, Codenames On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line) мають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жорстко зафіксовані ігрові поля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без можливості кастомізації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6789" y="6004827"/>
            <a:ext cx="14874422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пошир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еною пробле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мою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є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відсутність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надійного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збереження сесій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при розриві з'єднання прогрес втрачається;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6789" y="7409447"/>
            <a:ext cx="1487442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о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бмежений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функціонал соціальної взаємодії та модерації під час гри.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4114" y="1333992"/>
            <a:ext cx="3735549" cy="740034"/>
            <a:chOff x="0" y="0"/>
            <a:chExt cx="983848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3848" cy="194906"/>
            </a:xfrm>
            <a:custGeom>
              <a:avLst/>
              <a:gdLst/>
              <a:ahLst/>
              <a:cxnLst/>
              <a:rect r="r" b="b" t="t" l="l"/>
              <a:pathLst>
                <a:path h="194906" w="983848">
                  <a:moveTo>
                    <a:pt x="35232" y="0"/>
                  </a:moveTo>
                  <a:lnTo>
                    <a:pt x="948616" y="0"/>
                  </a:lnTo>
                  <a:cubicBezTo>
                    <a:pt x="968074" y="0"/>
                    <a:pt x="983848" y="15774"/>
                    <a:pt x="983848" y="35232"/>
                  </a:cubicBezTo>
                  <a:lnTo>
                    <a:pt x="983848" y="159674"/>
                  </a:lnTo>
                  <a:cubicBezTo>
                    <a:pt x="983848" y="179132"/>
                    <a:pt x="968074" y="194906"/>
                    <a:pt x="948616" y="194906"/>
                  </a:cubicBezTo>
                  <a:lnTo>
                    <a:pt x="35232" y="194906"/>
                  </a:lnTo>
                  <a:cubicBezTo>
                    <a:pt x="25888" y="194906"/>
                    <a:pt x="16927" y="191194"/>
                    <a:pt x="10319" y="184587"/>
                  </a:cubicBezTo>
                  <a:cubicBezTo>
                    <a:pt x="3712" y="177979"/>
                    <a:pt x="0" y="169018"/>
                    <a:pt x="0" y="159674"/>
                  </a:cubicBezTo>
                  <a:lnTo>
                    <a:pt x="0" y="35232"/>
                  </a:lnTo>
                  <a:cubicBezTo>
                    <a:pt x="0" y="15774"/>
                    <a:pt x="15774" y="0"/>
                    <a:pt x="35232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8384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18734" y="1460804"/>
            <a:ext cx="325105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Постановка задачі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4114" y="2406169"/>
            <a:ext cx="7303998" cy="5472062"/>
            <a:chOff x="0" y="0"/>
            <a:chExt cx="1923687" cy="14412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3687" cy="1441202"/>
            </a:xfrm>
            <a:custGeom>
              <a:avLst/>
              <a:gdLst/>
              <a:ahLst/>
              <a:cxnLst/>
              <a:rect r="r" b="b" t="t" l="l"/>
              <a:pathLst>
                <a:path h="1441202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1423182"/>
                  </a:lnTo>
                  <a:cubicBezTo>
                    <a:pt x="1923687" y="1427961"/>
                    <a:pt x="1921788" y="1432545"/>
                    <a:pt x="1918409" y="1435924"/>
                  </a:cubicBezTo>
                  <a:cubicBezTo>
                    <a:pt x="1915030" y="1439303"/>
                    <a:pt x="1910446" y="1441202"/>
                    <a:pt x="1905667" y="1441202"/>
                  </a:cubicBezTo>
                  <a:lnTo>
                    <a:pt x="18019" y="1441202"/>
                  </a:lnTo>
                  <a:cubicBezTo>
                    <a:pt x="13240" y="1441202"/>
                    <a:pt x="8657" y="1439303"/>
                    <a:pt x="5278" y="1435924"/>
                  </a:cubicBezTo>
                  <a:cubicBezTo>
                    <a:pt x="1898" y="1432545"/>
                    <a:pt x="0" y="1427961"/>
                    <a:pt x="0" y="1423182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B698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23687" cy="1488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09888" y="2408769"/>
            <a:ext cx="7303998" cy="5472062"/>
            <a:chOff x="0" y="0"/>
            <a:chExt cx="1923687" cy="14412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3687" cy="1441202"/>
            </a:xfrm>
            <a:custGeom>
              <a:avLst/>
              <a:gdLst/>
              <a:ahLst/>
              <a:cxnLst/>
              <a:rect r="r" b="b" t="t" l="l"/>
              <a:pathLst>
                <a:path h="1441202" w="1923687">
                  <a:moveTo>
                    <a:pt x="18019" y="0"/>
                  </a:moveTo>
                  <a:lnTo>
                    <a:pt x="1905667" y="0"/>
                  </a:lnTo>
                  <a:cubicBezTo>
                    <a:pt x="1910446" y="0"/>
                    <a:pt x="1915030" y="1898"/>
                    <a:pt x="1918409" y="5278"/>
                  </a:cubicBezTo>
                  <a:cubicBezTo>
                    <a:pt x="1921788" y="8657"/>
                    <a:pt x="1923687" y="13240"/>
                    <a:pt x="1923687" y="18019"/>
                  </a:cubicBezTo>
                  <a:lnTo>
                    <a:pt x="1923687" y="1423182"/>
                  </a:lnTo>
                  <a:cubicBezTo>
                    <a:pt x="1923687" y="1427961"/>
                    <a:pt x="1921788" y="1432545"/>
                    <a:pt x="1918409" y="1435924"/>
                  </a:cubicBezTo>
                  <a:cubicBezTo>
                    <a:pt x="1915030" y="1439303"/>
                    <a:pt x="1910446" y="1441202"/>
                    <a:pt x="1905667" y="1441202"/>
                  </a:cubicBezTo>
                  <a:lnTo>
                    <a:pt x="18019" y="1441202"/>
                  </a:lnTo>
                  <a:cubicBezTo>
                    <a:pt x="13240" y="1441202"/>
                    <a:pt x="8657" y="1439303"/>
                    <a:pt x="5278" y="1435924"/>
                  </a:cubicBezTo>
                  <a:cubicBezTo>
                    <a:pt x="1898" y="1432545"/>
                    <a:pt x="0" y="1427961"/>
                    <a:pt x="0" y="1423182"/>
                  </a:cubicBezTo>
                  <a:lnTo>
                    <a:pt x="0" y="18019"/>
                  </a:lnTo>
                  <a:cubicBezTo>
                    <a:pt x="0" y="13240"/>
                    <a:pt x="1898" y="8657"/>
                    <a:pt x="5278" y="5278"/>
                  </a:cubicBezTo>
                  <a:cubicBezTo>
                    <a:pt x="8657" y="1898"/>
                    <a:pt x="13240" y="0"/>
                    <a:pt x="180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B698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23687" cy="1488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71625" y="2989776"/>
            <a:ext cx="538810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B698B"/>
                </a:solidFill>
                <a:latin typeface="DM Sans Bold"/>
                <a:ea typeface="DM Sans Bold"/>
                <a:cs typeface="DM Sans Bold"/>
                <a:sym typeface="DM Sans Bold"/>
              </a:rPr>
              <a:t>Управління контентом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71625" y="3903063"/>
            <a:ext cx="6381606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Розробка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гнучкої системи авторизації.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Створення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функціоналу для генерації кастомних наборів карток та ігрових мап довільного розміру.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Реалізація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галереї для публікації та обміну контентом.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871084" y="2989776"/>
            <a:ext cx="538810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B698B"/>
                </a:solidFill>
                <a:latin typeface="DM Sans Bold"/>
                <a:ea typeface="DM Sans Bold"/>
                <a:cs typeface="DM Sans Bold"/>
                <a:sym typeface="DM Sans Bold"/>
              </a:rPr>
              <a:t>Ігровий процес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71084" y="3903063"/>
            <a:ext cx="6381606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обудова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надійної архітектури на базі WebSockets для синхронізації ігрового стану.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Забезпечення 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динамічного рендерингу 3D ігрового поля та стійкості сесій до розривів зв'язку.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2189" y="1312186"/>
            <a:ext cx="3495676" cy="740034"/>
            <a:chOff x="0" y="0"/>
            <a:chExt cx="920672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0672" cy="194906"/>
            </a:xfrm>
            <a:custGeom>
              <a:avLst/>
              <a:gdLst/>
              <a:ahLst/>
              <a:cxnLst/>
              <a:rect r="r" b="b" t="t" l="l"/>
              <a:pathLst>
                <a:path h="194906" w="920672">
                  <a:moveTo>
                    <a:pt x="37650" y="0"/>
                  </a:moveTo>
                  <a:lnTo>
                    <a:pt x="883022" y="0"/>
                  </a:lnTo>
                  <a:cubicBezTo>
                    <a:pt x="893007" y="0"/>
                    <a:pt x="902584" y="3967"/>
                    <a:pt x="909645" y="11027"/>
                  </a:cubicBezTo>
                  <a:cubicBezTo>
                    <a:pt x="916705" y="18088"/>
                    <a:pt x="920672" y="27665"/>
                    <a:pt x="920672" y="37650"/>
                  </a:cubicBezTo>
                  <a:lnTo>
                    <a:pt x="920672" y="157256"/>
                  </a:lnTo>
                  <a:cubicBezTo>
                    <a:pt x="920672" y="178050"/>
                    <a:pt x="903815" y="194906"/>
                    <a:pt x="883022" y="194906"/>
                  </a:cubicBezTo>
                  <a:lnTo>
                    <a:pt x="37650" y="194906"/>
                  </a:lnTo>
                  <a:cubicBezTo>
                    <a:pt x="27665" y="194906"/>
                    <a:pt x="18088" y="190939"/>
                    <a:pt x="11027" y="183879"/>
                  </a:cubicBezTo>
                  <a:cubicBezTo>
                    <a:pt x="3967" y="176818"/>
                    <a:pt x="0" y="167241"/>
                    <a:pt x="0" y="157256"/>
                  </a:cubicBezTo>
                  <a:lnTo>
                    <a:pt x="0" y="37650"/>
                  </a:lnTo>
                  <a:cubicBezTo>
                    <a:pt x="0" y="27665"/>
                    <a:pt x="3967" y="18088"/>
                    <a:pt x="11027" y="11027"/>
                  </a:cubicBezTo>
                  <a:cubicBezTo>
                    <a:pt x="18088" y="3967"/>
                    <a:pt x="27665" y="0"/>
                    <a:pt x="37650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20672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72189" y="2406819"/>
            <a:ext cx="4687208" cy="5472062"/>
            <a:chOff x="0" y="0"/>
            <a:chExt cx="1234491" cy="14412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4491" cy="1441202"/>
            </a:xfrm>
            <a:custGeom>
              <a:avLst/>
              <a:gdLst/>
              <a:ahLst/>
              <a:cxnLst/>
              <a:rect r="r" b="b" t="t" l="l"/>
              <a:pathLst>
                <a:path h="1441202" w="1234491">
                  <a:moveTo>
                    <a:pt x="28079" y="0"/>
                  </a:moveTo>
                  <a:lnTo>
                    <a:pt x="1206412" y="0"/>
                  </a:lnTo>
                  <a:cubicBezTo>
                    <a:pt x="1213859" y="0"/>
                    <a:pt x="1221001" y="2958"/>
                    <a:pt x="1226267" y="8224"/>
                  </a:cubicBezTo>
                  <a:cubicBezTo>
                    <a:pt x="1231533" y="13490"/>
                    <a:pt x="1234491" y="20632"/>
                    <a:pt x="1234491" y="28079"/>
                  </a:cubicBezTo>
                  <a:lnTo>
                    <a:pt x="1234491" y="1413122"/>
                  </a:lnTo>
                  <a:cubicBezTo>
                    <a:pt x="1234491" y="1428630"/>
                    <a:pt x="1221920" y="1441202"/>
                    <a:pt x="1206412" y="1441202"/>
                  </a:cubicBezTo>
                  <a:lnTo>
                    <a:pt x="28079" y="1441202"/>
                  </a:lnTo>
                  <a:cubicBezTo>
                    <a:pt x="20632" y="1441202"/>
                    <a:pt x="13490" y="1438243"/>
                    <a:pt x="8224" y="1432977"/>
                  </a:cubicBezTo>
                  <a:cubicBezTo>
                    <a:pt x="2958" y="1427711"/>
                    <a:pt x="0" y="1420569"/>
                    <a:pt x="0" y="1413122"/>
                  </a:cubicBezTo>
                  <a:lnTo>
                    <a:pt x="0" y="28079"/>
                  </a:lnTo>
                  <a:cubicBezTo>
                    <a:pt x="0" y="20632"/>
                    <a:pt x="2958" y="13490"/>
                    <a:pt x="8224" y="8224"/>
                  </a:cubicBezTo>
                  <a:cubicBezTo>
                    <a:pt x="13490" y="2958"/>
                    <a:pt x="20632" y="0"/>
                    <a:pt x="280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B698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34491" cy="1488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798470" y="2406819"/>
            <a:ext cx="4687208" cy="5472062"/>
            <a:chOff x="0" y="0"/>
            <a:chExt cx="1234491" cy="14412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4491" cy="1441202"/>
            </a:xfrm>
            <a:custGeom>
              <a:avLst/>
              <a:gdLst/>
              <a:ahLst/>
              <a:cxnLst/>
              <a:rect r="r" b="b" t="t" l="l"/>
              <a:pathLst>
                <a:path h="1441202" w="1234491">
                  <a:moveTo>
                    <a:pt x="28079" y="0"/>
                  </a:moveTo>
                  <a:lnTo>
                    <a:pt x="1206412" y="0"/>
                  </a:lnTo>
                  <a:cubicBezTo>
                    <a:pt x="1213859" y="0"/>
                    <a:pt x="1221001" y="2958"/>
                    <a:pt x="1226267" y="8224"/>
                  </a:cubicBezTo>
                  <a:cubicBezTo>
                    <a:pt x="1231533" y="13490"/>
                    <a:pt x="1234491" y="20632"/>
                    <a:pt x="1234491" y="28079"/>
                  </a:cubicBezTo>
                  <a:lnTo>
                    <a:pt x="1234491" y="1413122"/>
                  </a:lnTo>
                  <a:cubicBezTo>
                    <a:pt x="1234491" y="1428630"/>
                    <a:pt x="1221920" y="1441202"/>
                    <a:pt x="1206412" y="1441202"/>
                  </a:cubicBezTo>
                  <a:lnTo>
                    <a:pt x="28079" y="1441202"/>
                  </a:lnTo>
                  <a:cubicBezTo>
                    <a:pt x="20632" y="1441202"/>
                    <a:pt x="13490" y="1438243"/>
                    <a:pt x="8224" y="1432977"/>
                  </a:cubicBezTo>
                  <a:cubicBezTo>
                    <a:pt x="2958" y="1427711"/>
                    <a:pt x="0" y="1420569"/>
                    <a:pt x="0" y="1413122"/>
                  </a:cubicBezTo>
                  <a:lnTo>
                    <a:pt x="0" y="28079"/>
                  </a:lnTo>
                  <a:cubicBezTo>
                    <a:pt x="0" y="20632"/>
                    <a:pt x="2958" y="13490"/>
                    <a:pt x="8224" y="8224"/>
                  </a:cubicBezTo>
                  <a:cubicBezTo>
                    <a:pt x="13490" y="2958"/>
                    <a:pt x="20632" y="0"/>
                    <a:pt x="280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B698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34491" cy="1488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28603" y="2408119"/>
            <a:ext cx="4687208" cy="5472062"/>
            <a:chOff x="0" y="0"/>
            <a:chExt cx="1234491" cy="14412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4491" cy="1441202"/>
            </a:xfrm>
            <a:custGeom>
              <a:avLst/>
              <a:gdLst/>
              <a:ahLst/>
              <a:cxnLst/>
              <a:rect r="r" b="b" t="t" l="l"/>
              <a:pathLst>
                <a:path h="1441202" w="1234491">
                  <a:moveTo>
                    <a:pt x="28079" y="0"/>
                  </a:moveTo>
                  <a:lnTo>
                    <a:pt x="1206412" y="0"/>
                  </a:lnTo>
                  <a:cubicBezTo>
                    <a:pt x="1213859" y="0"/>
                    <a:pt x="1221001" y="2958"/>
                    <a:pt x="1226267" y="8224"/>
                  </a:cubicBezTo>
                  <a:cubicBezTo>
                    <a:pt x="1231533" y="13490"/>
                    <a:pt x="1234491" y="20632"/>
                    <a:pt x="1234491" y="28079"/>
                  </a:cubicBezTo>
                  <a:lnTo>
                    <a:pt x="1234491" y="1413122"/>
                  </a:lnTo>
                  <a:cubicBezTo>
                    <a:pt x="1234491" y="1428630"/>
                    <a:pt x="1221920" y="1441202"/>
                    <a:pt x="1206412" y="1441202"/>
                  </a:cubicBezTo>
                  <a:lnTo>
                    <a:pt x="28079" y="1441202"/>
                  </a:lnTo>
                  <a:cubicBezTo>
                    <a:pt x="20632" y="1441202"/>
                    <a:pt x="13490" y="1438243"/>
                    <a:pt x="8224" y="1432977"/>
                  </a:cubicBezTo>
                  <a:cubicBezTo>
                    <a:pt x="2958" y="1427711"/>
                    <a:pt x="0" y="1420569"/>
                    <a:pt x="0" y="1413122"/>
                  </a:cubicBezTo>
                  <a:lnTo>
                    <a:pt x="0" y="28079"/>
                  </a:lnTo>
                  <a:cubicBezTo>
                    <a:pt x="0" y="20632"/>
                    <a:pt x="2958" y="13490"/>
                    <a:pt x="8224" y="8224"/>
                  </a:cubicBezTo>
                  <a:cubicBezTo>
                    <a:pt x="13490" y="2958"/>
                    <a:pt x="20632" y="0"/>
                    <a:pt x="280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B698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34491" cy="1488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310393" y="2832130"/>
            <a:ext cx="1210799" cy="1186089"/>
          </a:xfrm>
          <a:custGeom>
            <a:avLst/>
            <a:gdLst/>
            <a:ahLst/>
            <a:cxnLst/>
            <a:rect r="r" b="b" t="t" l="l"/>
            <a:pathLst>
              <a:path h="1186089" w="1210799">
                <a:moveTo>
                  <a:pt x="0" y="0"/>
                </a:moveTo>
                <a:lnTo>
                  <a:pt x="1210799" y="0"/>
                </a:lnTo>
                <a:lnTo>
                  <a:pt x="1210799" y="1186089"/>
                </a:lnTo>
                <a:lnTo>
                  <a:pt x="0" y="11860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557743" y="2957709"/>
            <a:ext cx="1168662" cy="934930"/>
          </a:xfrm>
          <a:custGeom>
            <a:avLst/>
            <a:gdLst/>
            <a:ahLst/>
            <a:cxnLst/>
            <a:rect r="r" b="b" t="t" l="l"/>
            <a:pathLst>
              <a:path h="934930" w="1168662">
                <a:moveTo>
                  <a:pt x="0" y="0"/>
                </a:moveTo>
                <a:lnTo>
                  <a:pt x="1168663" y="0"/>
                </a:lnTo>
                <a:lnTo>
                  <a:pt x="1168663" y="934930"/>
                </a:lnTo>
                <a:lnTo>
                  <a:pt x="0" y="9349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884245" y="2999316"/>
            <a:ext cx="975925" cy="851717"/>
          </a:xfrm>
          <a:custGeom>
            <a:avLst/>
            <a:gdLst/>
            <a:ahLst/>
            <a:cxnLst/>
            <a:rect r="r" b="b" t="t" l="l"/>
            <a:pathLst>
              <a:path h="851717" w="975925">
                <a:moveTo>
                  <a:pt x="0" y="0"/>
                </a:moveTo>
                <a:lnTo>
                  <a:pt x="975925" y="0"/>
                </a:lnTo>
                <a:lnTo>
                  <a:pt x="975925" y="851717"/>
                </a:lnTo>
                <a:lnTo>
                  <a:pt x="0" y="8517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16808" y="1438998"/>
            <a:ext cx="325105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Вибір технологій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10496" y="4445375"/>
            <a:ext cx="221059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React &amp; Vite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98470" y="4445375"/>
            <a:ext cx="4687208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WebSockets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30646" y="4445375"/>
            <a:ext cx="3083123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WebGL (Three.js)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39763" y="5232669"/>
            <a:ext cx="4368428" cy="250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Створення компонентної архітектури (SPA) для швидкого рендерингу та управління складним станом інтерфейсу.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311318" y="5232669"/>
            <a:ext cx="3643558" cy="250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Двосторонній обмін даними в реальному часі для миттєвої синхронізації стану кімнати та чатів.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390553" y="5232669"/>
            <a:ext cx="4167668" cy="208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Динамічний рендеринг тривимірного ігрового простору та переміщення фішок команд.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2189" y="1605576"/>
            <a:ext cx="9638537" cy="740034"/>
            <a:chOff x="0" y="0"/>
            <a:chExt cx="2538545" cy="1949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8545" cy="194906"/>
            </a:xfrm>
            <a:custGeom>
              <a:avLst/>
              <a:gdLst/>
              <a:ahLst/>
              <a:cxnLst/>
              <a:rect r="r" b="b" t="t" l="l"/>
              <a:pathLst>
                <a:path h="194906" w="2538545">
                  <a:moveTo>
                    <a:pt x="13655" y="0"/>
                  </a:moveTo>
                  <a:lnTo>
                    <a:pt x="2524890" y="0"/>
                  </a:lnTo>
                  <a:cubicBezTo>
                    <a:pt x="2532431" y="0"/>
                    <a:pt x="2538545" y="6113"/>
                    <a:pt x="2538545" y="13655"/>
                  </a:cubicBezTo>
                  <a:lnTo>
                    <a:pt x="2538545" y="181251"/>
                  </a:lnTo>
                  <a:cubicBezTo>
                    <a:pt x="2538545" y="188793"/>
                    <a:pt x="2532431" y="194906"/>
                    <a:pt x="2524890" y="194906"/>
                  </a:cubicBezTo>
                  <a:lnTo>
                    <a:pt x="13655" y="194906"/>
                  </a:lnTo>
                  <a:cubicBezTo>
                    <a:pt x="6113" y="194906"/>
                    <a:pt x="0" y="188793"/>
                    <a:pt x="0" y="181251"/>
                  </a:cubicBezTo>
                  <a:lnTo>
                    <a:pt x="0" y="13655"/>
                  </a:lnTo>
                  <a:cubicBezTo>
                    <a:pt x="0" y="6113"/>
                    <a:pt x="6113" y="0"/>
                    <a:pt x="13655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538545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6808" y="1732388"/>
            <a:ext cx="1183272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Архітектура створенного програмного забезпечення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2189" y="2874964"/>
            <a:ext cx="14874422" cy="50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Зас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тосунок поб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уд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овано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з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а методо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логією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Atomic Design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Ма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ш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ут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и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зац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ію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інтегро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в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ано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з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глоб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а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ль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ими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контекстами (AuthContext, LobbyProvider).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Взаємодію із серверною частиною абстраговано через спеціалізовані сервіси (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Axios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 та менеджер WebSocket-з'єднань.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Автоматизоване розгортання та доставку оновлень налаштовано за допомогою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Vercel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для клієнтської частини та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Azure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(Ap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 Se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vice,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Post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SQL,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Redis) для серверної частини.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031828" y="1669434"/>
            <a:ext cx="3293971" cy="740034"/>
            <a:chOff x="0" y="0"/>
            <a:chExt cx="867548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7548" cy="194906"/>
            </a:xfrm>
            <a:custGeom>
              <a:avLst/>
              <a:gdLst/>
              <a:ahLst/>
              <a:cxnLst/>
              <a:rect r="r" b="b" t="t" l="l"/>
              <a:pathLst>
                <a:path h="194906" w="867548">
                  <a:moveTo>
                    <a:pt x="39956" y="0"/>
                  </a:moveTo>
                  <a:lnTo>
                    <a:pt x="827592" y="0"/>
                  </a:lnTo>
                  <a:cubicBezTo>
                    <a:pt x="849659" y="0"/>
                    <a:pt x="867548" y="17889"/>
                    <a:pt x="867548" y="39956"/>
                  </a:cubicBezTo>
                  <a:lnTo>
                    <a:pt x="867548" y="154950"/>
                  </a:lnTo>
                  <a:cubicBezTo>
                    <a:pt x="867548" y="177017"/>
                    <a:pt x="849659" y="194906"/>
                    <a:pt x="827592" y="194906"/>
                  </a:cubicBezTo>
                  <a:lnTo>
                    <a:pt x="39956" y="194906"/>
                  </a:lnTo>
                  <a:cubicBezTo>
                    <a:pt x="29359" y="194906"/>
                    <a:pt x="19196" y="190696"/>
                    <a:pt x="11703" y="183203"/>
                  </a:cubicBezTo>
                  <a:cubicBezTo>
                    <a:pt x="4210" y="175710"/>
                    <a:pt x="0" y="165547"/>
                    <a:pt x="0" y="154950"/>
                  </a:cubicBezTo>
                  <a:lnTo>
                    <a:pt x="0" y="39956"/>
                  </a:lnTo>
                  <a:cubicBezTo>
                    <a:pt x="0" y="17889"/>
                    <a:pt x="17889" y="0"/>
                    <a:pt x="39956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6754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45395" y="2976690"/>
            <a:ext cx="676458" cy="560494"/>
          </a:xfrm>
          <a:custGeom>
            <a:avLst/>
            <a:gdLst/>
            <a:ahLst/>
            <a:cxnLst/>
            <a:rect r="r" b="b" t="t" l="l"/>
            <a:pathLst>
              <a:path h="560494" w="676458">
                <a:moveTo>
                  <a:pt x="0" y="0"/>
                </a:moveTo>
                <a:lnTo>
                  <a:pt x="676458" y="0"/>
                </a:lnTo>
                <a:lnTo>
                  <a:pt x="676458" y="560494"/>
                </a:lnTo>
                <a:lnTo>
                  <a:pt x="0" y="560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64871" y="4059657"/>
            <a:ext cx="637506" cy="577740"/>
          </a:xfrm>
          <a:custGeom>
            <a:avLst/>
            <a:gdLst/>
            <a:ahLst/>
            <a:cxnLst/>
            <a:rect r="r" b="b" t="t" l="l"/>
            <a:pathLst>
              <a:path h="577740" w="637506">
                <a:moveTo>
                  <a:pt x="0" y="0"/>
                </a:moveTo>
                <a:lnTo>
                  <a:pt x="637506" y="0"/>
                </a:lnTo>
                <a:lnTo>
                  <a:pt x="637506" y="577740"/>
                </a:lnTo>
                <a:lnTo>
                  <a:pt x="0" y="5777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24055" y="5161272"/>
            <a:ext cx="519137" cy="537678"/>
          </a:xfrm>
          <a:custGeom>
            <a:avLst/>
            <a:gdLst/>
            <a:ahLst/>
            <a:cxnLst/>
            <a:rect r="r" b="b" t="t" l="l"/>
            <a:pathLst>
              <a:path h="537678" w="519137">
                <a:moveTo>
                  <a:pt x="0" y="0"/>
                </a:moveTo>
                <a:lnTo>
                  <a:pt x="519138" y="0"/>
                </a:lnTo>
                <a:lnTo>
                  <a:pt x="519138" y="537678"/>
                </a:lnTo>
                <a:lnTo>
                  <a:pt x="0" y="5376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34988" y="6222825"/>
            <a:ext cx="697272" cy="577740"/>
          </a:xfrm>
          <a:custGeom>
            <a:avLst/>
            <a:gdLst/>
            <a:ahLst/>
            <a:cxnLst/>
            <a:rect r="r" b="b" t="t" l="l"/>
            <a:pathLst>
              <a:path h="577740" w="697272">
                <a:moveTo>
                  <a:pt x="0" y="0"/>
                </a:moveTo>
                <a:lnTo>
                  <a:pt x="697272" y="0"/>
                </a:lnTo>
                <a:lnTo>
                  <a:pt x="697272" y="577740"/>
                </a:lnTo>
                <a:lnTo>
                  <a:pt x="0" y="5777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31828" y="7324440"/>
            <a:ext cx="703592" cy="582977"/>
          </a:xfrm>
          <a:custGeom>
            <a:avLst/>
            <a:gdLst/>
            <a:ahLst/>
            <a:cxnLst/>
            <a:rect r="r" b="b" t="t" l="l"/>
            <a:pathLst>
              <a:path h="582977" w="703592">
                <a:moveTo>
                  <a:pt x="0" y="0"/>
                </a:moveTo>
                <a:lnTo>
                  <a:pt x="703592" y="0"/>
                </a:lnTo>
                <a:lnTo>
                  <a:pt x="703592" y="582977"/>
                </a:lnTo>
                <a:lnTo>
                  <a:pt x="0" y="5829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76448" y="1796247"/>
            <a:ext cx="1183272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Етапи розробки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09085" y="2819043"/>
            <a:ext cx="14006534" cy="82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Авторизація та профілі: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р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еалізовано покрокову реєстрацію, Google SSO, управління токенами та налаштування аватарів.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09085" y="3942763"/>
            <a:ext cx="12895183" cy="82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Галерея контенту: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створено систему вкладок для публічних, збережених та власних мап і наборів карток.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9085" y="5009107"/>
            <a:ext cx="12895183" cy="82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Спеціалізовані редактори: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розроблено інтерфейси для створення словників та налаштування правил для кожної клітинки ігрової мапи.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09085" y="6075451"/>
            <a:ext cx="13516739" cy="82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Управління лобі: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в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проваджено гостьовий доступ, генерацію кімнат, систему запрошень та модерацію команд хостом.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09085" y="7179684"/>
            <a:ext cx="14116848" cy="82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Ігровий цикл (WebSockets):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нтегровано фази гри (підготовка, відгадування слів, перевірка результатів), синхронізацію таймерів та чати.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87117" y="1082654"/>
            <a:ext cx="3514013" cy="740034"/>
            <a:chOff x="0" y="0"/>
            <a:chExt cx="925501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5501" cy="194906"/>
            </a:xfrm>
            <a:custGeom>
              <a:avLst/>
              <a:gdLst/>
              <a:ahLst/>
              <a:cxnLst/>
              <a:rect r="r" b="b" t="t" l="l"/>
              <a:pathLst>
                <a:path h="194906" w="925501">
                  <a:moveTo>
                    <a:pt x="37454" y="0"/>
                  </a:moveTo>
                  <a:lnTo>
                    <a:pt x="888048" y="0"/>
                  </a:lnTo>
                  <a:cubicBezTo>
                    <a:pt x="908733" y="0"/>
                    <a:pt x="925501" y="16769"/>
                    <a:pt x="925501" y="37454"/>
                  </a:cubicBezTo>
                  <a:lnTo>
                    <a:pt x="925501" y="157452"/>
                  </a:lnTo>
                  <a:cubicBezTo>
                    <a:pt x="925501" y="178137"/>
                    <a:pt x="908733" y="194906"/>
                    <a:pt x="888048" y="194906"/>
                  </a:cubicBezTo>
                  <a:lnTo>
                    <a:pt x="37454" y="194906"/>
                  </a:lnTo>
                  <a:cubicBezTo>
                    <a:pt x="16769" y="194906"/>
                    <a:pt x="0" y="178137"/>
                    <a:pt x="0" y="157452"/>
                  </a:cubicBezTo>
                  <a:lnTo>
                    <a:pt x="0" y="37454"/>
                  </a:lnTo>
                  <a:cubicBezTo>
                    <a:pt x="0" y="16769"/>
                    <a:pt x="16769" y="0"/>
                    <a:pt x="37454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25501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31737" y="1209466"/>
            <a:ext cx="1183272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Ключові рішення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7117" y="2579462"/>
            <a:ext cx="619720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Стійкість до розривів зв'язку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9617" y="3266902"/>
            <a:ext cx="14582113" cy="560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Для WebSocket-з'єднань реалізовано стратегію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експоненціального збільшення інтервалу повторного підключення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(Exponential Backoff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),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а також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асинхронний механізм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періодичної перевірки активності з'єднання (Heartbeat), який не блокує виконання основного коду.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Для REST API впроваджено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механізм черги запитів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під час оновлення токенів доступу (Token Refresh Queue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),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який забезпечує блокування нових запитів до завершення оновлення токена та запобігає виникненню стану гонитви (race condition).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0444" y="1457370"/>
            <a:ext cx="6411243" cy="740034"/>
            <a:chOff x="0" y="0"/>
            <a:chExt cx="1688558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8558" cy="194906"/>
            </a:xfrm>
            <a:custGeom>
              <a:avLst/>
              <a:gdLst/>
              <a:ahLst/>
              <a:cxnLst/>
              <a:rect r="r" b="b" t="t" l="l"/>
              <a:pathLst>
                <a:path h="194906" w="1688558">
                  <a:moveTo>
                    <a:pt x="20528" y="0"/>
                  </a:moveTo>
                  <a:lnTo>
                    <a:pt x="1668029" y="0"/>
                  </a:lnTo>
                  <a:cubicBezTo>
                    <a:pt x="1673474" y="0"/>
                    <a:pt x="1678695" y="2163"/>
                    <a:pt x="1682545" y="6013"/>
                  </a:cubicBezTo>
                  <a:cubicBezTo>
                    <a:pt x="1686395" y="9862"/>
                    <a:pt x="1688558" y="15084"/>
                    <a:pt x="1688558" y="20528"/>
                  </a:cubicBezTo>
                  <a:lnTo>
                    <a:pt x="1688558" y="174378"/>
                  </a:lnTo>
                  <a:cubicBezTo>
                    <a:pt x="1688558" y="179822"/>
                    <a:pt x="1686395" y="185044"/>
                    <a:pt x="1682545" y="188893"/>
                  </a:cubicBezTo>
                  <a:cubicBezTo>
                    <a:pt x="1678695" y="192743"/>
                    <a:pt x="1673474" y="194906"/>
                    <a:pt x="1668029" y="194906"/>
                  </a:cubicBezTo>
                  <a:lnTo>
                    <a:pt x="20528" y="194906"/>
                  </a:lnTo>
                  <a:cubicBezTo>
                    <a:pt x="15084" y="194906"/>
                    <a:pt x="9862" y="192743"/>
                    <a:pt x="6013" y="188893"/>
                  </a:cubicBezTo>
                  <a:cubicBezTo>
                    <a:pt x="2163" y="185044"/>
                    <a:pt x="0" y="179822"/>
                    <a:pt x="0" y="174378"/>
                  </a:cubicBezTo>
                  <a:lnTo>
                    <a:pt x="0" y="20528"/>
                  </a:lnTo>
                  <a:cubicBezTo>
                    <a:pt x="0" y="15084"/>
                    <a:pt x="2163" y="9862"/>
                    <a:pt x="6013" y="6013"/>
                  </a:cubicBezTo>
                  <a:cubicBezTo>
                    <a:pt x="9862" y="2163"/>
                    <a:pt x="15084" y="0"/>
                    <a:pt x="20528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8855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45064" y="1584182"/>
            <a:ext cx="11832725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Інтерфейс: Управління контентом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379341" y="2916124"/>
            <a:ext cx="8608215" cy="4454751"/>
          </a:xfrm>
          <a:custGeom>
            <a:avLst/>
            <a:gdLst/>
            <a:ahLst/>
            <a:cxnLst/>
            <a:rect r="r" b="b" t="t" l="l"/>
            <a:pathLst>
              <a:path h="4454751" w="8608215">
                <a:moveTo>
                  <a:pt x="0" y="0"/>
                </a:moveTo>
                <a:lnTo>
                  <a:pt x="8608215" y="0"/>
                </a:lnTo>
                <a:lnTo>
                  <a:pt x="8608215" y="4454752"/>
                </a:lnTo>
                <a:lnTo>
                  <a:pt x="0" y="44547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B698B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444" y="4406165"/>
            <a:ext cx="6935627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Каталогізація публічних та приватних наборів карток з можливостями фільтрації та швидкого збереження.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00444" y="3656172"/>
            <a:ext cx="1681758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Галерея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0444" y="1457370"/>
            <a:ext cx="6411243" cy="740034"/>
            <a:chOff x="0" y="0"/>
            <a:chExt cx="1688558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8558" cy="194906"/>
            </a:xfrm>
            <a:custGeom>
              <a:avLst/>
              <a:gdLst/>
              <a:ahLst/>
              <a:cxnLst/>
              <a:rect r="r" b="b" t="t" l="l"/>
              <a:pathLst>
                <a:path h="194906" w="1688558">
                  <a:moveTo>
                    <a:pt x="20528" y="0"/>
                  </a:moveTo>
                  <a:lnTo>
                    <a:pt x="1668029" y="0"/>
                  </a:lnTo>
                  <a:cubicBezTo>
                    <a:pt x="1673474" y="0"/>
                    <a:pt x="1678695" y="2163"/>
                    <a:pt x="1682545" y="6013"/>
                  </a:cubicBezTo>
                  <a:cubicBezTo>
                    <a:pt x="1686395" y="9862"/>
                    <a:pt x="1688558" y="15084"/>
                    <a:pt x="1688558" y="20528"/>
                  </a:cubicBezTo>
                  <a:lnTo>
                    <a:pt x="1688558" y="174378"/>
                  </a:lnTo>
                  <a:cubicBezTo>
                    <a:pt x="1688558" y="179822"/>
                    <a:pt x="1686395" y="185044"/>
                    <a:pt x="1682545" y="188893"/>
                  </a:cubicBezTo>
                  <a:cubicBezTo>
                    <a:pt x="1678695" y="192743"/>
                    <a:pt x="1673474" y="194906"/>
                    <a:pt x="1668029" y="194906"/>
                  </a:cubicBezTo>
                  <a:lnTo>
                    <a:pt x="20528" y="194906"/>
                  </a:lnTo>
                  <a:cubicBezTo>
                    <a:pt x="15084" y="194906"/>
                    <a:pt x="9862" y="192743"/>
                    <a:pt x="6013" y="188893"/>
                  </a:cubicBezTo>
                  <a:cubicBezTo>
                    <a:pt x="2163" y="185044"/>
                    <a:pt x="0" y="179822"/>
                    <a:pt x="0" y="174378"/>
                  </a:cubicBezTo>
                  <a:lnTo>
                    <a:pt x="0" y="20528"/>
                  </a:lnTo>
                  <a:cubicBezTo>
                    <a:pt x="0" y="15084"/>
                    <a:pt x="2163" y="9862"/>
                    <a:pt x="6013" y="6013"/>
                  </a:cubicBezTo>
                  <a:cubicBezTo>
                    <a:pt x="9862" y="2163"/>
                    <a:pt x="15084" y="0"/>
                    <a:pt x="20528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8855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379341" y="2912843"/>
            <a:ext cx="8653982" cy="4467618"/>
          </a:xfrm>
          <a:custGeom>
            <a:avLst/>
            <a:gdLst/>
            <a:ahLst/>
            <a:cxnLst/>
            <a:rect r="r" b="b" t="t" l="l"/>
            <a:pathLst>
              <a:path h="4467618" w="8653982">
                <a:moveTo>
                  <a:pt x="0" y="0"/>
                </a:moveTo>
                <a:lnTo>
                  <a:pt x="8653982" y="0"/>
                </a:lnTo>
                <a:lnTo>
                  <a:pt x="8653982" y="4467618"/>
                </a:lnTo>
                <a:lnTo>
                  <a:pt x="0" y="4467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B698B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45064" y="1584182"/>
            <a:ext cx="11832725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Інтерфейс: Управління контентом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444" y="4406165"/>
            <a:ext cx="6935627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окрокові форми зі строгою клієнтською валідацією для генерації нових мап та обрізки обкладинок.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00444" y="3656172"/>
            <a:ext cx="2267347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Ство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рення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0444" y="1457370"/>
            <a:ext cx="6411243" cy="740034"/>
            <a:chOff x="0" y="0"/>
            <a:chExt cx="1688558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8558" cy="194906"/>
            </a:xfrm>
            <a:custGeom>
              <a:avLst/>
              <a:gdLst/>
              <a:ahLst/>
              <a:cxnLst/>
              <a:rect r="r" b="b" t="t" l="l"/>
              <a:pathLst>
                <a:path h="194906" w="1688558">
                  <a:moveTo>
                    <a:pt x="20528" y="0"/>
                  </a:moveTo>
                  <a:lnTo>
                    <a:pt x="1668029" y="0"/>
                  </a:lnTo>
                  <a:cubicBezTo>
                    <a:pt x="1673474" y="0"/>
                    <a:pt x="1678695" y="2163"/>
                    <a:pt x="1682545" y="6013"/>
                  </a:cubicBezTo>
                  <a:cubicBezTo>
                    <a:pt x="1686395" y="9862"/>
                    <a:pt x="1688558" y="15084"/>
                    <a:pt x="1688558" y="20528"/>
                  </a:cubicBezTo>
                  <a:lnTo>
                    <a:pt x="1688558" y="174378"/>
                  </a:lnTo>
                  <a:cubicBezTo>
                    <a:pt x="1688558" y="179822"/>
                    <a:pt x="1686395" y="185044"/>
                    <a:pt x="1682545" y="188893"/>
                  </a:cubicBezTo>
                  <a:cubicBezTo>
                    <a:pt x="1678695" y="192743"/>
                    <a:pt x="1673474" y="194906"/>
                    <a:pt x="1668029" y="194906"/>
                  </a:cubicBezTo>
                  <a:lnTo>
                    <a:pt x="20528" y="194906"/>
                  </a:lnTo>
                  <a:cubicBezTo>
                    <a:pt x="15084" y="194906"/>
                    <a:pt x="9862" y="192743"/>
                    <a:pt x="6013" y="188893"/>
                  </a:cubicBezTo>
                  <a:cubicBezTo>
                    <a:pt x="2163" y="185044"/>
                    <a:pt x="0" y="179822"/>
                    <a:pt x="0" y="174378"/>
                  </a:cubicBezTo>
                  <a:lnTo>
                    <a:pt x="0" y="20528"/>
                  </a:lnTo>
                  <a:cubicBezTo>
                    <a:pt x="0" y="15084"/>
                    <a:pt x="2163" y="9862"/>
                    <a:pt x="6013" y="6013"/>
                  </a:cubicBezTo>
                  <a:cubicBezTo>
                    <a:pt x="9862" y="2163"/>
                    <a:pt x="15084" y="0"/>
                    <a:pt x="20528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8855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379341" y="2912843"/>
            <a:ext cx="8653982" cy="4483845"/>
          </a:xfrm>
          <a:custGeom>
            <a:avLst/>
            <a:gdLst/>
            <a:ahLst/>
            <a:cxnLst/>
            <a:rect r="r" b="b" t="t" l="l"/>
            <a:pathLst>
              <a:path h="4483845" w="8653982">
                <a:moveTo>
                  <a:pt x="0" y="0"/>
                </a:moveTo>
                <a:lnTo>
                  <a:pt x="8653982" y="0"/>
                </a:lnTo>
                <a:lnTo>
                  <a:pt x="8653982" y="4483844"/>
                </a:lnTo>
                <a:lnTo>
                  <a:pt x="0" y="4483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B698B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45064" y="1584182"/>
            <a:ext cx="11832725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Інтерфейс: Управління контентом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444" y="4406165"/>
            <a:ext cx="6935627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Інте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рактивна CSS-сітка для детального налаштування правил (нагорода, штраф, ліміт часу) для кожної клітинки.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00444" y="3656172"/>
            <a:ext cx="2941935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Редакто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р мап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0444" y="1457370"/>
            <a:ext cx="3205676" cy="740034"/>
            <a:chOff x="0" y="0"/>
            <a:chExt cx="844293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293" cy="194906"/>
            </a:xfrm>
            <a:custGeom>
              <a:avLst/>
              <a:gdLst/>
              <a:ahLst/>
              <a:cxnLst/>
              <a:rect r="r" b="b" t="t" l="l"/>
              <a:pathLst>
                <a:path h="194906" w="844293">
                  <a:moveTo>
                    <a:pt x="41056" y="0"/>
                  </a:moveTo>
                  <a:lnTo>
                    <a:pt x="803237" y="0"/>
                  </a:lnTo>
                  <a:cubicBezTo>
                    <a:pt x="814126" y="0"/>
                    <a:pt x="824569" y="4326"/>
                    <a:pt x="832268" y="12025"/>
                  </a:cubicBezTo>
                  <a:cubicBezTo>
                    <a:pt x="839968" y="19725"/>
                    <a:pt x="844293" y="30167"/>
                    <a:pt x="844293" y="41056"/>
                  </a:cubicBezTo>
                  <a:lnTo>
                    <a:pt x="844293" y="153850"/>
                  </a:lnTo>
                  <a:cubicBezTo>
                    <a:pt x="844293" y="176525"/>
                    <a:pt x="825912" y="194906"/>
                    <a:pt x="803237" y="194906"/>
                  </a:cubicBezTo>
                  <a:lnTo>
                    <a:pt x="41056" y="194906"/>
                  </a:lnTo>
                  <a:cubicBezTo>
                    <a:pt x="18381" y="194906"/>
                    <a:pt x="0" y="176525"/>
                    <a:pt x="0" y="153850"/>
                  </a:cubicBezTo>
                  <a:lnTo>
                    <a:pt x="0" y="41056"/>
                  </a:lnTo>
                  <a:cubicBezTo>
                    <a:pt x="0" y="18381"/>
                    <a:pt x="18381" y="0"/>
                    <a:pt x="41056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44293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63459" y="1827387"/>
            <a:ext cx="8047890" cy="4114484"/>
          </a:xfrm>
          <a:custGeom>
            <a:avLst/>
            <a:gdLst/>
            <a:ahLst/>
            <a:cxnLst/>
            <a:rect r="r" b="b" t="t" l="l"/>
            <a:pathLst>
              <a:path h="4114484" w="8047890">
                <a:moveTo>
                  <a:pt x="0" y="0"/>
                </a:moveTo>
                <a:lnTo>
                  <a:pt x="8047891" y="0"/>
                </a:lnTo>
                <a:lnTo>
                  <a:pt x="8047891" y="4114484"/>
                </a:lnTo>
                <a:lnTo>
                  <a:pt x="0" y="4114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B698B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545064" y="1584182"/>
            <a:ext cx="1183272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Ігровий процес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444" y="3527740"/>
            <a:ext cx="7589824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Інте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рфейс ігрового лобі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забезпечує динамічне управління командами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Будь-який гравець може приєднатися до лобі за кодом, навіть </a:t>
            </a:r>
            <a:r>
              <a:rPr lang="en-US" b="true" sz="27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без реєстрації</a:t>
            </a: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(Guest Mode).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00444" y="2777747"/>
            <a:ext cx="8377679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Синхронізація в реальному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часі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0444" y="6291169"/>
            <a:ext cx="15854519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Під час гри система </a:t>
            </a: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автоматично керує зміною ролей</a:t>
            </a: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(Ведучий/Гравець), </a:t>
            </a: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відображає </a:t>
            </a: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синхронізований сервером </a:t>
            </a: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таймер </a:t>
            </a: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та надає </a:t>
            </a: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доступ до ізольованих чатів</a:t>
            </a: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(командний та глобальний). Усі дії, такі як свайп карток чи зміна рахунку, миттєво обробляються через WebSocket диспетчер подій.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0444" y="1213693"/>
            <a:ext cx="2442445" cy="740034"/>
            <a:chOff x="0" y="0"/>
            <a:chExt cx="643278" cy="1949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3278" cy="194906"/>
            </a:xfrm>
            <a:custGeom>
              <a:avLst/>
              <a:gdLst/>
              <a:ahLst/>
              <a:cxnLst/>
              <a:rect r="r" b="b" t="t" l="l"/>
              <a:pathLst>
                <a:path h="194906" w="643278">
                  <a:moveTo>
                    <a:pt x="53886" y="0"/>
                  </a:moveTo>
                  <a:lnTo>
                    <a:pt x="589392" y="0"/>
                  </a:lnTo>
                  <a:cubicBezTo>
                    <a:pt x="603684" y="0"/>
                    <a:pt x="617389" y="5677"/>
                    <a:pt x="627495" y="15783"/>
                  </a:cubicBezTo>
                  <a:cubicBezTo>
                    <a:pt x="637601" y="25888"/>
                    <a:pt x="643278" y="39594"/>
                    <a:pt x="643278" y="53886"/>
                  </a:cubicBezTo>
                  <a:lnTo>
                    <a:pt x="643278" y="141020"/>
                  </a:lnTo>
                  <a:cubicBezTo>
                    <a:pt x="643278" y="155312"/>
                    <a:pt x="637601" y="169018"/>
                    <a:pt x="627495" y="179123"/>
                  </a:cubicBezTo>
                  <a:cubicBezTo>
                    <a:pt x="617389" y="189229"/>
                    <a:pt x="603684" y="194906"/>
                    <a:pt x="589392" y="194906"/>
                  </a:cubicBezTo>
                  <a:lnTo>
                    <a:pt x="53886" y="194906"/>
                  </a:lnTo>
                  <a:cubicBezTo>
                    <a:pt x="39594" y="194906"/>
                    <a:pt x="25888" y="189229"/>
                    <a:pt x="15783" y="179123"/>
                  </a:cubicBezTo>
                  <a:cubicBezTo>
                    <a:pt x="5677" y="169018"/>
                    <a:pt x="0" y="155312"/>
                    <a:pt x="0" y="141020"/>
                  </a:cubicBezTo>
                  <a:lnTo>
                    <a:pt x="0" y="53886"/>
                  </a:lnTo>
                  <a:cubicBezTo>
                    <a:pt x="0" y="39594"/>
                    <a:pt x="5677" y="25888"/>
                    <a:pt x="15783" y="15783"/>
                  </a:cubicBezTo>
                  <a:cubicBezTo>
                    <a:pt x="25888" y="5677"/>
                    <a:pt x="39594" y="0"/>
                    <a:pt x="53886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4327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31298" y="2436695"/>
            <a:ext cx="9727604" cy="3625470"/>
          </a:xfrm>
          <a:custGeom>
            <a:avLst/>
            <a:gdLst/>
            <a:ahLst/>
            <a:cxnLst/>
            <a:rect r="r" b="b" t="t" l="l"/>
            <a:pathLst>
              <a:path h="3625470" w="9727604">
                <a:moveTo>
                  <a:pt x="0" y="0"/>
                </a:moveTo>
                <a:lnTo>
                  <a:pt x="9727604" y="0"/>
                </a:lnTo>
                <a:lnTo>
                  <a:pt x="9727604" y="3625470"/>
                </a:lnTo>
                <a:lnTo>
                  <a:pt x="0" y="36254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809" t="-8251" r="0" b="-4429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45064" y="1340505"/>
            <a:ext cx="202592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Тестування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444" y="2525227"/>
            <a:ext cx="4517148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Утиліти та алгоритми (Unit)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444" y="3472492"/>
            <a:ext cx="4265243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Обробка WebSocket (Reducer)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0444" y="4417362"/>
            <a:ext cx="5188032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Форми автентифікації (Integration)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0444" y="5362232"/>
            <a:ext cx="5634980" cy="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  <a:spcBef>
                <a:spcPct val="0"/>
              </a:spcBef>
            </a:pPr>
            <a:r>
              <a:rPr lang="en-US" sz="214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Ігровий цикл та таймери (Integration)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0444" y="6610985"/>
            <a:ext cx="15825489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Комплексне тестування (Vitest) гарантує безпомилкову роботу фундаментальних алгоритмів та стабільність інтерактивних UI-модулів. Мануальне тестування підтвердило кросбраузерність WebGL та толерантність до розривів мережі.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689" y="8886975"/>
            <a:ext cx="1468428" cy="992740"/>
          </a:xfrm>
          <a:custGeom>
            <a:avLst/>
            <a:gdLst/>
            <a:ahLst/>
            <a:cxnLst/>
            <a:rect r="r" b="b" t="t" l="l"/>
            <a:pathLst>
              <a:path h="992740" w="1468428">
                <a:moveTo>
                  <a:pt x="0" y="0"/>
                </a:moveTo>
                <a:lnTo>
                  <a:pt x="1468428" y="0"/>
                </a:lnTo>
                <a:lnTo>
                  <a:pt x="1468428" y="992740"/>
                </a:lnTo>
                <a:lnTo>
                  <a:pt x="0" y="9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0444" y="2827380"/>
            <a:ext cx="2132621" cy="740034"/>
            <a:chOff x="0" y="0"/>
            <a:chExt cx="561678" cy="1949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1678" cy="194906"/>
            </a:xfrm>
            <a:custGeom>
              <a:avLst/>
              <a:gdLst/>
              <a:ahLst/>
              <a:cxnLst/>
              <a:rect r="r" b="b" t="t" l="l"/>
              <a:pathLst>
                <a:path h="194906" w="561678">
                  <a:moveTo>
                    <a:pt x="61714" y="0"/>
                  </a:moveTo>
                  <a:lnTo>
                    <a:pt x="499964" y="0"/>
                  </a:lnTo>
                  <a:cubicBezTo>
                    <a:pt x="516332" y="0"/>
                    <a:pt x="532029" y="6502"/>
                    <a:pt x="543602" y="18076"/>
                  </a:cubicBezTo>
                  <a:cubicBezTo>
                    <a:pt x="555176" y="29649"/>
                    <a:pt x="561678" y="45346"/>
                    <a:pt x="561678" y="61714"/>
                  </a:cubicBezTo>
                  <a:lnTo>
                    <a:pt x="561678" y="133192"/>
                  </a:lnTo>
                  <a:cubicBezTo>
                    <a:pt x="561678" y="149560"/>
                    <a:pt x="555176" y="165257"/>
                    <a:pt x="543602" y="176830"/>
                  </a:cubicBezTo>
                  <a:cubicBezTo>
                    <a:pt x="532029" y="188404"/>
                    <a:pt x="516332" y="194906"/>
                    <a:pt x="499964" y="194906"/>
                  </a:cubicBezTo>
                  <a:lnTo>
                    <a:pt x="61714" y="194906"/>
                  </a:lnTo>
                  <a:cubicBezTo>
                    <a:pt x="45346" y="194906"/>
                    <a:pt x="29649" y="188404"/>
                    <a:pt x="18076" y="176830"/>
                  </a:cubicBezTo>
                  <a:cubicBezTo>
                    <a:pt x="6502" y="165257"/>
                    <a:pt x="0" y="149560"/>
                    <a:pt x="0" y="133192"/>
                  </a:cubicBezTo>
                  <a:lnTo>
                    <a:pt x="0" y="61714"/>
                  </a:lnTo>
                  <a:cubicBezTo>
                    <a:pt x="0" y="45346"/>
                    <a:pt x="6502" y="29649"/>
                    <a:pt x="18076" y="18076"/>
                  </a:cubicBezTo>
                  <a:cubicBezTo>
                    <a:pt x="29649" y="6502"/>
                    <a:pt x="45346" y="0"/>
                    <a:pt x="61714" y="0"/>
                  </a:cubicBezTo>
                  <a:close/>
                </a:path>
              </a:pathLst>
            </a:custGeom>
            <a:solidFill>
              <a:srgbClr val="0B698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61678" cy="242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979877" y="7069088"/>
            <a:ext cx="5558051" cy="4114800"/>
          </a:xfrm>
          <a:custGeom>
            <a:avLst/>
            <a:gdLst/>
            <a:ahLst/>
            <a:cxnLst/>
            <a:rect r="r" b="b" t="t" l="l"/>
            <a:pathLst>
              <a:path h="4114800" w="5558051">
                <a:moveTo>
                  <a:pt x="0" y="0"/>
                </a:moveTo>
                <a:lnTo>
                  <a:pt x="5558050" y="0"/>
                </a:lnTo>
                <a:lnTo>
                  <a:pt x="55580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5064" y="2954193"/>
            <a:ext cx="202592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Підсумки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58902" y="9069338"/>
            <a:ext cx="734062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0444" y="4229204"/>
            <a:ext cx="15958856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Розроблена архітектура клієнтської частини довела свою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продуктивність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гнучкість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управління вмістом та </a:t>
            </a:r>
            <a:r>
              <a:rPr lang="en-US" b="true" sz="3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готовність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до безперервного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масштабування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в робочому середовищі.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619855">
            <a:off x="-1017847" y="-671508"/>
            <a:ext cx="4673729" cy="5711913"/>
          </a:xfrm>
          <a:custGeom>
            <a:avLst/>
            <a:gdLst/>
            <a:ahLst/>
            <a:cxnLst/>
            <a:rect r="r" b="b" t="t" l="l"/>
            <a:pathLst>
              <a:path h="5711913" w="4673729">
                <a:moveTo>
                  <a:pt x="0" y="5711914"/>
                </a:moveTo>
                <a:lnTo>
                  <a:pt x="4673730" y="5711914"/>
                </a:lnTo>
                <a:lnTo>
                  <a:pt x="4673730" y="0"/>
                </a:lnTo>
                <a:lnTo>
                  <a:pt x="0" y="0"/>
                </a:lnTo>
                <a:lnTo>
                  <a:pt x="0" y="5711914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DAHOhpPXz9E</dc:identifier>
  <dcterms:modified xsi:type="dcterms:W3CDTF">2011-08-01T06:04:30Z</dcterms:modified>
  <cp:revision>1</cp:revision>
  <dc:title>2026_Б_ПІ_ПЗПІ_22_4_Кожанов_О_Ю</dc:title>
</cp:coreProperties>
</file>