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DM Sans" charset="1" panose="00000000000000000000"/>
      <p:regular r:id="rId20"/>
    </p:embeddedFont>
    <p:embeddedFont>
      <p:font typeface="DM Sans Bold" charset="1" panose="00000000000000000000"/>
      <p:regular r:id="rId21"/>
    </p:embeddedFont>
    <p:embeddedFont>
      <p:font typeface="Roboto" charset="1" panose="02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11" Target="../media/image15.png" Type="http://schemas.openxmlformats.org/officeDocument/2006/relationships/image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11.png" Type="http://schemas.openxmlformats.org/officeDocument/2006/relationships/image"/><Relationship Id="rId8" Target="../media/image12.pn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1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17.pn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18.pn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1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2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496040"/>
            <a:ext cx="3915785" cy="716029"/>
          </a:xfrm>
          <a:custGeom>
            <a:avLst/>
            <a:gdLst/>
            <a:ahLst/>
            <a:cxnLst/>
            <a:rect r="r" b="b" t="t" l="l"/>
            <a:pathLst>
              <a:path h="716029" w="3915785">
                <a:moveTo>
                  <a:pt x="0" y="0"/>
                </a:moveTo>
                <a:lnTo>
                  <a:pt x="3915785" y="0"/>
                </a:lnTo>
                <a:lnTo>
                  <a:pt x="3915785" y="716029"/>
                </a:lnTo>
                <a:lnTo>
                  <a:pt x="0" y="7160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6644" y="427491"/>
            <a:ext cx="3732431" cy="853127"/>
          </a:xfrm>
          <a:custGeom>
            <a:avLst/>
            <a:gdLst/>
            <a:ahLst/>
            <a:cxnLst/>
            <a:rect r="r" b="b" t="t" l="l"/>
            <a:pathLst>
              <a:path h="853127" w="3732431">
                <a:moveTo>
                  <a:pt x="0" y="0"/>
                </a:moveTo>
                <a:lnTo>
                  <a:pt x="3732432" y="0"/>
                </a:lnTo>
                <a:lnTo>
                  <a:pt x="3732432" y="853127"/>
                </a:lnTo>
                <a:lnTo>
                  <a:pt x="0" y="8531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067911" y="3522428"/>
            <a:ext cx="14393498" cy="1671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Вебплатформа для багатокористувацької гри в Alias із підтримкою офіційних і користувацьких карт та правил гри та засобів соціальної взаємодії: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Front-end, DevOps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055279" y="2432142"/>
            <a:ext cx="2732251" cy="740034"/>
            <a:chOff x="0" y="0"/>
            <a:chExt cx="719605" cy="19490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19605" cy="194906"/>
            </a:xfrm>
            <a:custGeom>
              <a:avLst/>
              <a:gdLst/>
              <a:ahLst/>
              <a:cxnLst/>
              <a:rect r="r" b="b" t="t" l="l"/>
              <a:pathLst>
                <a:path h="194906" w="719605">
                  <a:moveTo>
                    <a:pt x="48170" y="0"/>
                  </a:moveTo>
                  <a:lnTo>
                    <a:pt x="671435" y="0"/>
                  </a:lnTo>
                  <a:cubicBezTo>
                    <a:pt x="698039" y="0"/>
                    <a:pt x="719605" y="21566"/>
                    <a:pt x="719605" y="48170"/>
                  </a:cubicBezTo>
                  <a:lnTo>
                    <a:pt x="719605" y="146736"/>
                  </a:lnTo>
                  <a:cubicBezTo>
                    <a:pt x="719605" y="173340"/>
                    <a:pt x="698039" y="194906"/>
                    <a:pt x="671435" y="194906"/>
                  </a:cubicBezTo>
                  <a:lnTo>
                    <a:pt x="48170" y="194906"/>
                  </a:lnTo>
                  <a:cubicBezTo>
                    <a:pt x="21566" y="194906"/>
                    <a:pt x="0" y="173340"/>
                    <a:pt x="0" y="146736"/>
                  </a:cubicBezTo>
                  <a:lnTo>
                    <a:pt x="0" y="48170"/>
                  </a:lnTo>
                  <a:cubicBezTo>
                    <a:pt x="0" y="21566"/>
                    <a:pt x="21566" y="0"/>
                    <a:pt x="48170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719605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299899" y="2558954"/>
            <a:ext cx="2793118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Тема роботи: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067911" y="7800135"/>
            <a:ext cx="6002279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Кожанов Олександр Юрійович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30442" y="7191082"/>
            <a:ext cx="595759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доц. кафедри ПІ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261411" y="9069338"/>
            <a:ext cx="3765177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14 червня 2026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2055279" y="6241498"/>
            <a:ext cx="2084220" cy="740034"/>
            <a:chOff x="0" y="0"/>
            <a:chExt cx="548930" cy="19490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48930" cy="194906"/>
            </a:xfrm>
            <a:custGeom>
              <a:avLst/>
              <a:gdLst/>
              <a:ahLst/>
              <a:cxnLst/>
              <a:rect r="r" b="b" t="t" l="l"/>
              <a:pathLst>
                <a:path h="194906" w="548930">
                  <a:moveTo>
                    <a:pt x="63147" y="0"/>
                  </a:moveTo>
                  <a:lnTo>
                    <a:pt x="485783" y="0"/>
                  </a:lnTo>
                  <a:cubicBezTo>
                    <a:pt x="520658" y="0"/>
                    <a:pt x="548930" y="28272"/>
                    <a:pt x="548930" y="63147"/>
                  </a:cubicBezTo>
                  <a:lnTo>
                    <a:pt x="548930" y="131759"/>
                  </a:lnTo>
                  <a:cubicBezTo>
                    <a:pt x="548930" y="148507"/>
                    <a:pt x="542277" y="164568"/>
                    <a:pt x="530435" y="176411"/>
                  </a:cubicBezTo>
                  <a:cubicBezTo>
                    <a:pt x="518592" y="188253"/>
                    <a:pt x="502531" y="194906"/>
                    <a:pt x="485783" y="194906"/>
                  </a:cubicBezTo>
                  <a:lnTo>
                    <a:pt x="63147" y="194906"/>
                  </a:lnTo>
                  <a:cubicBezTo>
                    <a:pt x="46400" y="194906"/>
                    <a:pt x="30338" y="188253"/>
                    <a:pt x="18495" y="176411"/>
                  </a:cubicBezTo>
                  <a:cubicBezTo>
                    <a:pt x="6653" y="164568"/>
                    <a:pt x="0" y="148507"/>
                    <a:pt x="0" y="131759"/>
                  </a:cubicBezTo>
                  <a:lnTo>
                    <a:pt x="0" y="63147"/>
                  </a:lnTo>
                  <a:cubicBezTo>
                    <a:pt x="0" y="46400"/>
                    <a:pt x="6653" y="30338"/>
                    <a:pt x="18495" y="18495"/>
                  </a:cubicBezTo>
                  <a:cubicBezTo>
                    <a:pt x="30338" y="6653"/>
                    <a:pt x="46400" y="0"/>
                    <a:pt x="63147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548930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2299899" y="6368310"/>
            <a:ext cx="1656231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Виконав: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0230442" y="6241498"/>
            <a:ext cx="2176825" cy="740034"/>
            <a:chOff x="0" y="0"/>
            <a:chExt cx="573320" cy="19490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73320" cy="194906"/>
            </a:xfrm>
            <a:custGeom>
              <a:avLst/>
              <a:gdLst/>
              <a:ahLst/>
              <a:cxnLst/>
              <a:rect r="r" b="b" t="t" l="l"/>
              <a:pathLst>
                <a:path h="194906" w="573320">
                  <a:moveTo>
                    <a:pt x="60461" y="0"/>
                  </a:moveTo>
                  <a:lnTo>
                    <a:pt x="512859" y="0"/>
                  </a:lnTo>
                  <a:cubicBezTo>
                    <a:pt x="528895" y="0"/>
                    <a:pt x="544273" y="6370"/>
                    <a:pt x="555612" y="17709"/>
                  </a:cubicBezTo>
                  <a:cubicBezTo>
                    <a:pt x="566950" y="29047"/>
                    <a:pt x="573320" y="44426"/>
                    <a:pt x="573320" y="60461"/>
                  </a:cubicBezTo>
                  <a:lnTo>
                    <a:pt x="573320" y="134445"/>
                  </a:lnTo>
                  <a:cubicBezTo>
                    <a:pt x="573320" y="150480"/>
                    <a:pt x="566950" y="165859"/>
                    <a:pt x="555612" y="177197"/>
                  </a:cubicBezTo>
                  <a:cubicBezTo>
                    <a:pt x="544273" y="188536"/>
                    <a:pt x="528895" y="194906"/>
                    <a:pt x="512859" y="194906"/>
                  </a:cubicBezTo>
                  <a:lnTo>
                    <a:pt x="60461" y="194906"/>
                  </a:lnTo>
                  <a:cubicBezTo>
                    <a:pt x="44426" y="194906"/>
                    <a:pt x="29047" y="188536"/>
                    <a:pt x="17709" y="177197"/>
                  </a:cubicBezTo>
                  <a:cubicBezTo>
                    <a:pt x="6370" y="165859"/>
                    <a:pt x="0" y="150480"/>
                    <a:pt x="0" y="134445"/>
                  </a:cubicBezTo>
                  <a:lnTo>
                    <a:pt x="0" y="60461"/>
                  </a:lnTo>
                  <a:cubicBezTo>
                    <a:pt x="0" y="44426"/>
                    <a:pt x="6370" y="29047"/>
                    <a:pt x="17709" y="17709"/>
                  </a:cubicBezTo>
                  <a:cubicBezTo>
                    <a:pt x="29047" y="6370"/>
                    <a:pt x="44426" y="0"/>
                    <a:pt x="60461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573320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0475062" y="6368310"/>
            <a:ext cx="1839600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Керівник: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091878" y="7191082"/>
            <a:ext cx="6002279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ПЗПІ-22-4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230442" y="7800135"/>
            <a:ext cx="6002279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  <a:spcBef>
                <a:spcPct val="0"/>
              </a:spcBef>
            </a:pPr>
            <a:r>
              <a:rPr lang="en-US" sz="28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Колесников Дмитро Олегович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706789" y="2795033"/>
            <a:ext cx="5567302" cy="740034"/>
            <a:chOff x="0" y="0"/>
            <a:chExt cx="1466285" cy="1949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66285" cy="194906"/>
            </a:xfrm>
            <a:custGeom>
              <a:avLst/>
              <a:gdLst/>
              <a:ahLst/>
              <a:cxnLst/>
              <a:rect r="r" b="b" t="t" l="l"/>
              <a:pathLst>
                <a:path h="194906" w="1466285">
                  <a:moveTo>
                    <a:pt x="23640" y="0"/>
                  </a:moveTo>
                  <a:lnTo>
                    <a:pt x="1442645" y="0"/>
                  </a:lnTo>
                  <a:cubicBezTo>
                    <a:pt x="1448915" y="0"/>
                    <a:pt x="1454928" y="2491"/>
                    <a:pt x="1459361" y="6924"/>
                  </a:cubicBezTo>
                  <a:cubicBezTo>
                    <a:pt x="1463795" y="11357"/>
                    <a:pt x="1466285" y="17370"/>
                    <a:pt x="1466285" y="23640"/>
                  </a:cubicBezTo>
                  <a:lnTo>
                    <a:pt x="1466285" y="171266"/>
                  </a:lnTo>
                  <a:cubicBezTo>
                    <a:pt x="1466285" y="177536"/>
                    <a:pt x="1463795" y="183549"/>
                    <a:pt x="1459361" y="187982"/>
                  </a:cubicBezTo>
                  <a:cubicBezTo>
                    <a:pt x="1454928" y="192415"/>
                    <a:pt x="1448915" y="194906"/>
                    <a:pt x="1442645" y="194906"/>
                  </a:cubicBezTo>
                  <a:lnTo>
                    <a:pt x="23640" y="194906"/>
                  </a:lnTo>
                  <a:cubicBezTo>
                    <a:pt x="17370" y="194906"/>
                    <a:pt x="11357" y="192415"/>
                    <a:pt x="6924" y="187982"/>
                  </a:cubicBezTo>
                  <a:cubicBezTo>
                    <a:pt x="2491" y="183549"/>
                    <a:pt x="0" y="177536"/>
                    <a:pt x="0" y="171266"/>
                  </a:cubicBezTo>
                  <a:lnTo>
                    <a:pt x="0" y="23640"/>
                  </a:lnTo>
                  <a:cubicBezTo>
                    <a:pt x="0" y="17370"/>
                    <a:pt x="2491" y="11357"/>
                    <a:pt x="6924" y="6924"/>
                  </a:cubicBezTo>
                  <a:cubicBezTo>
                    <a:pt x="11357" y="2491"/>
                    <a:pt x="17370" y="0"/>
                    <a:pt x="23640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466285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51409" y="2921845"/>
            <a:ext cx="5322682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Мета та актуальність роботи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06789" y="4072846"/>
            <a:ext cx="14874422" cy="2233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Створення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інтерактивного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масштабованого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та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стійкого до розривів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з'єднання вебінтерфейсу, що забезпечує комфортну гру в режимі реального часу та відповідає зростаючому попиту на перенесення командних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ігор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в онлайн-середовище.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06789" y="1355799"/>
            <a:ext cx="3495676" cy="740034"/>
            <a:chOff x="0" y="0"/>
            <a:chExt cx="920672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0672" cy="194906"/>
            </a:xfrm>
            <a:custGeom>
              <a:avLst/>
              <a:gdLst/>
              <a:ahLst/>
              <a:cxnLst/>
              <a:rect r="r" b="b" t="t" l="l"/>
              <a:pathLst>
                <a:path h="194906" w="920672">
                  <a:moveTo>
                    <a:pt x="37650" y="0"/>
                  </a:moveTo>
                  <a:lnTo>
                    <a:pt x="883022" y="0"/>
                  </a:lnTo>
                  <a:cubicBezTo>
                    <a:pt x="893007" y="0"/>
                    <a:pt x="902584" y="3967"/>
                    <a:pt x="909645" y="11027"/>
                  </a:cubicBezTo>
                  <a:cubicBezTo>
                    <a:pt x="916705" y="18088"/>
                    <a:pt x="920672" y="27665"/>
                    <a:pt x="920672" y="37650"/>
                  </a:cubicBezTo>
                  <a:lnTo>
                    <a:pt x="920672" y="157256"/>
                  </a:lnTo>
                  <a:cubicBezTo>
                    <a:pt x="920672" y="178050"/>
                    <a:pt x="903815" y="194906"/>
                    <a:pt x="883022" y="194906"/>
                  </a:cubicBezTo>
                  <a:lnTo>
                    <a:pt x="37650" y="194906"/>
                  </a:lnTo>
                  <a:cubicBezTo>
                    <a:pt x="27665" y="194906"/>
                    <a:pt x="18088" y="190939"/>
                    <a:pt x="11027" y="183879"/>
                  </a:cubicBezTo>
                  <a:cubicBezTo>
                    <a:pt x="3967" y="176818"/>
                    <a:pt x="0" y="167241"/>
                    <a:pt x="0" y="157256"/>
                  </a:cubicBezTo>
                  <a:lnTo>
                    <a:pt x="0" y="37650"/>
                  </a:lnTo>
                  <a:cubicBezTo>
                    <a:pt x="0" y="27665"/>
                    <a:pt x="3967" y="18088"/>
                    <a:pt x="11027" y="11027"/>
                  </a:cubicBezTo>
                  <a:cubicBezTo>
                    <a:pt x="18088" y="3967"/>
                    <a:pt x="27665" y="0"/>
                    <a:pt x="37650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920672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951409" y="1482611"/>
            <a:ext cx="3251057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Аналіз проблеми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06789" y="2632217"/>
            <a:ext cx="14874422" cy="1671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більшіс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ть існуючих мобільних додатків Alias використовують концепцію гри на одному пристрої, що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 унеможливлює дистанційну гру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;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06789" y="4600207"/>
            <a:ext cx="14874422" cy="110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популярні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браузерні аналоги (наприклад, Codenames On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line) мають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жорстко зафіксовані ігрові поля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без можливості кастомізації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;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706789" y="6004827"/>
            <a:ext cx="14874422" cy="110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пошир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еною пробле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мою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є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відсутність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надійного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збереження сесій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: при розриві з'єднання прогрес втрачається;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706789" y="7409447"/>
            <a:ext cx="14874422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90881" indent="-345440" lvl="1">
              <a:lnSpc>
                <a:spcPts val="4480"/>
              </a:lnSpc>
              <a:buFont typeface="Arial"/>
              <a:buChar char="•"/>
            </a:pP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о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бмежений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функціонал соціальної взаємодії та модерації під час гри.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574114" y="1333992"/>
            <a:ext cx="3735549" cy="740034"/>
            <a:chOff x="0" y="0"/>
            <a:chExt cx="983848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83848" cy="194906"/>
            </a:xfrm>
            <a:custGeom>
              <a:avLst/>
              <a:gdLst/>
              <a:ahLst/>
              <a:cxnLst/>
              <a:rect r="r" b="b" t="t" l="l"/>
              <a:pathLst>
                <a:path h="194906" w="983848">
                  <a:moveTo>
                    <a:pt x="35232" y="0"/>
                  </a:moveTo>
                  <a:lnTo>
                    <a:pt x="948616" y="0"/>
                  </a:lnTo>
                  <a:cubicBezTo>
                    <a:pt x="968074" y="0"/>
                    <a:pt x="983848" y="15774"/>
                    <a:pt x="983848" y="35232"/>
                  </a:cubicBezTo>
                  <a:lnTo>
                    <a:pt x="983848" y="159674"/>
                  </a:lnTo>
                  <a:cubicBezTo>
                    <a:pt x="983848" y="179132"/>
                    <a:pt x="968074" y="194906"/>
                    <a:pt x="948616" y="194906"/>
                  </a:cubicBezTo>
                  <a:lnTo>
                    <a:pt x="35232" y="194906"/>
                  </a:lnTo>
                  <a:cubicBezTo>
                    <a:pt x="25888" y="194906"/>
                    <a:pt x="16927" y="191194"/>
                    <a:pt x="10319" y="184587"/>
                  </a:cubicBezTo>
                  <a:cubicBezTo>
                    <a:pt x="3712" y="177979"/>
                    <a:pt x="0" y="169018"/>
                    <a:pt x="0" y="159674"/>
                  </a:cubicBezTo>
                  <a:lnTo>
                    <a:pt x="0" y="35232"/>
                  </a:lnTo>
                  <a:cubicBezTo>
                    <a:pt x="0" y="15774"/>
                    <a:pt x="15774" y="0"/>
                    <a:pt x="35232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98384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818734" y="1460804"/>
            <a:ext cx="3251057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Постановка задачі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74114" y="2406169"/>
            <a:ext cx="7303998" cy="5472062"/>
            <a:chOff x="0" y="0"/>
            <a:chExt cx="1923687" cy="144120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23687" cy="1441202"/>
            </a:xfrm>
            <a:custGeom>
              <a:avLst/>
              <a:gdLst/>
              <a:ahLst/>
              <a:cxnLst/>
              <a:rect r="r" b="b" t="t" l="l"/>
              <a:pathLst>
                <a:path h="1441202" w="1923687">
                  <a:moveTo>
                    <a:pt x="18019" y="0"/>
                  </a:moveTo>
                  <a:lnTo>
                    <a:pt x="1905667" y="0"/>
                  </a:lnTo>
                  <a:cubicBezTo>
                    <a:pt x="1910446" y="0"/>
                    <a:pt x="1915030" y="1898"/>
                    <a:pt x="1918409" y="5278"/>
                  </a:cubicBezTo>
                  <a:cubicBezTo>
                    <a:pt x="1921788" y="8657"/>
                    <a:pt x="1923687" y="13240"/>
                    <a:pt x="1923687" y="18019"/>
                  </a:cubicBezTo>
                  <a:lnTo>
                    <a:pt x="1923687" y="1423182"/>
                  </a:lnTo>
                  <a:cubicBezTo>
                    <a:pt x="1923687" y="1427961"/>
                    <a:pt x="1921788" y="1432545"/>
                    <a:pt x="1918409" y="1435924"/>
                  </a:cubicBezTo>
                  <a:cubicBezTo>
                    <a:pt x="1915030" y="1439303"/>
                    <a:pt x="1910446" y="1441202"/>
                    <a:pt x="1905667" y="1441202"/>
                  </a:cubicBezTo>
                  <a:lnTo>
                    <a:pt x="18019" y="1441202"/>
                  </a:lnTo>
                  <a:cubicBezTo>
                    <a:pt x="13240" y="1441202"/>
                    <a:pt x="8657" y="1439303"/>
                    <a:pt x="5278" y="1435924"/>
                  </a:cubicBezTo>
                  <a:cubicBezTo>
                    <a:pt x="1898" y="1432545"/>
                    <a:pt x="0" y="1427961"/>
                    <a:pt x="0" y="1423182"/>
                  </a:cubicBezTo>
                  <a:lnTo>
                    <a:pt x="0" y="18019"/>
                  </a:lnTo>
                  <a:cubicBezTo>
                    <a:pt x="0" y="13240"/>
                    <a:pt x="1898" y="8657"/>
                    <a:pt x="5278" y="5278"/>
                  </a:cubicBezTo>
                  <a:cubicBezTo>
                    <a:pt x="8657" y="1898"/>
                    <a:pt x="13240" y="0"/>
                    <a:pt x="1801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B698B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1923687" cy="14888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409888" y="2408769"/>
            <a:ext cx="7303998" cy="5472062"/>
            <a:chOff x="0" y="0"/>
            <a:chExt cx="1923687" cy="144120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23687" cy="1441202"/>
            </a:xfrm>
            <a:custGeom>
              <a:avLst/>
              <a:gdLst/>
              <a:ahLst/>
              <a:cxnLst/>
              <a:rect r="r" b="b" t="t" l="l"/>
              <a:pathLst>
                <a:path h="1441202" w="1923687">
                  <a:moveTo>
                    <a:pt x="18019" y="0"/>
                  </a:moveTo>
                  <a:lnTo>
                    <a:pt x="1905667" y="0"/>
                  </a:lnTo>
                  <a:cubicBezTo>
                    <a:pt x="1910446" y="0"/>
                    <a:pt x="1915030" y="1898"/>
                    <a:pt x="1918409" y="5278"/>
                  </a:cubicBezTo>
                  <a:cubicBezTo>
                    <a:pt x="1921788" y="8657"/>
                    <a:pt x="1923687" y="13240"/>
                    <a:pt x="1923687" y="18019"/>
                  </a:cubicBezTo>
                  <a:lnTo>
                    <a:pt x="1923687" y="1423182"/>
                  </a:lnTo>
                  <a:cubicBezTo>
                    <a:pt x="1923687" y="1427961"/>
                    <a:pt x="1921788" y="1432545"/>
                    <a:pt x="1918409" y="1435924"/>
                  </a:cubicBezTo>
                  <a:cubicBezTo>
                    <a:pt x="1915030" y="1439303"/>
                    <a:pt x="1910446" y="1441202"/>
                    <a:pt x="1905667" y="1441202"/>
                  </a:cubicBezTo>
                  <a:lnTo>
                    <a:pt x="18019" y="1441202"/>
                  </a:lnTo>
                  <a:cubicBezTo>
                    <a:pt x="13240" y="1441202"/>
                    <a:pt x="8657" y="1439303"/>
                    <a:pt x="5278" y="1435924"/>
                  </a:cubicBezTo>
                  <a:cubicBezTo>
                    <a:pt x="1898" y="1432545"/>
                    <a:pt x="0" y="1427961"/>
                    <a:pt x="0" y="1423182"/>
                  </a:cubicBezTo>
                  <a:lnTo>
                    <a:pt x="0" y="18019"/>
                  </a:lnTo>
                  <a:cubicBezTo>
                    <a:pt x="0" y="13240"/>
                    <a:pt x="1898" y="8657"/>
                    <a:pt x="5278" y="5278"/>
                  </a:cubicBezTo>
                  <a:cubicBezTo>
                    <a:pt x="8657" y="1898"/>
                    <a:pt x="13240" y="0"/>
                    <a:pt x="1801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B698B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1923687" cy="14888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071625" y="2989776"/>
            <a:ext cx="5388102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B698B"/>
                </a:solidFill>
                <a:latin typeface="DM Sans Bold"/>
                <a:ea typeface="DM Sans Bold"/>
                <a:cs typeface="DM Sans Bold"/>
                <a:sym typeface="DM Sans Bold"/>
              </a:rPr>
              <a:t>Управління контентом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071625" y="3903063"/>
            <a:ext cx="6381606" cy="3312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Розробка 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гнучкої системи авторизації. </a:t>
            </a: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Створення 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функціоналу для генерації кастомних наборів карток та ігрових мап довільного розміру. </a:t>
            </a: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Реалізація 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галереї для публікації та обміну контентом.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9871084" y="2989776"/>
            <a:ext cx="5388102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B698B"/>
                </a:solidFill>
                <a:latin typeface="DM Sans Bold"/>
                <a:ea typeface="DM Sans Bold"/>
                <a:cs typeface="DM Sans Bold"/>
                <a:sym typeface="DM Sans Bold"/>
              </a:rPr>
              <a:t>Ігровий процес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871084" y="3903063"/>
            <a:ext cx="6381606" cy="3312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П</a:t>
            </a: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обудова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надійної архітектури на базі WebSockets для синхронізації ігрового стану. </a:t>
            </a: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Забезпечення 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динамічного рендерингу 3D ігрового поля та стійкості сесій до розривів зв'язку.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572189" y="1312186"/>
            <a:ext cx="3495676" cy="740034"/>
            <a:chOff x="0" y="0"/>
            <a:chExt cx="920672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0672" cy="194906"/>
            </a:xfrm>
            <a:custGeom>
              <a:avLst/>
              <a:gdLst/>
              <a:ahLst/>
              <a:cxnLst/>
              <a:rect r="r" b="b" t="t" l="l"/>
              <a:pathLst>
                <a:path h="194906" w="920672">
                  <a:moveTo>
                    <a:pt x="37650" y="0"/>
                  </a:moveTo>
                  <a:lnTo>
                    <a:pt x="883022" y="0"/>
                  </a:lnTo>
                  <a:cubicBezTo>
                    <a:pt x="893007" y="0"/>
                    <a:pt x="902584" y="3967"/>
                    <a:pt x="909645" y="11027"/>
                  </a:cubicBezTo>
                  <a:cubicBezTo>
                    <a:pt x="916705" y="18088"/>
                    <a:pt x="920672" y="27665"/>
                    <a:pt x="920672" y="37650"/>
                  </a:cubicBezTo>
                  <a:lnTo>
                    <a:pt x="920672" y="157256"/>
                  </a:lnTo>
                  <a:cubicBezTo>
                    <a:pt x="920672" y="178050"/>
                    <a:pt x="903815" y="194906"/>
                    <a:pt x="883022" y="194906"/>
                  </a:cubicBezTo>
                  <a:lnTo>
                    <a:pt x="37650" y="194906"/>
                  </a:lnTo>
                  <a:cubicBezTo>
                    <a:pt x="27665" y="194906"/>
                    <a:pt x="18088" y="190939"/>
                    <a:pt x="11027" y="183879"/>
                  </a:cubicBezTo>
                  <a:cubicBezTo>
                    <a:pt x="3967" y="176818"/>
                    <a:pt x="0" y="167241"/>
                    <a:pt x="0" y="157256"/>
                  </a:cubicBezTo>
                  <a:lnTo>
                    <a:pt x="0" y="37650"/>
                  </a:lnTo>
                  <a:cubicBezTo>
                    <a:pt x="0" y="27665"/>
                    <a:pt x="3967" y="18088"/>
                    <a:pt x="11027" y="11027"/>
                  </a:cubicBezTo>
                  <a:cubicBezTo>
                    <a:pt x="18088" y="3967"/>
                    <a:pt x="27665" y="0"/>
                    <a:pt x="37650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920672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572189" y="2406819"/>
            <a:ext cx="4687208" cy="5472062"/>
            <a:chOff x="0" y="0"/>
            <a:chExt cx="1234491" cy="144120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4491" cy="1441202"/>
            </a:xfrm>
            <a:custGeom>
              <a:avLst/>
              <a:gdLst/>
              <a:ahLst/>
              <a:cxnLst/>
              <a:rect r="r" b="b" t="t" l="l"/>
              <a:pathLst>
                <a:path h="1441202" w="1234491">
                  <a:moveTo>
                    <a:pt x="28079" y="0"/>
                  </a:moveTo>
                  <a:lnTo>
                    <a:pt x="1206412" y="0"/>
                  </a:lnTo>
                  <a:cubicBezTo>
                    <a:pt x="1213859" y="0"/>
                    <a:pt x="1221001" y="2958"/>
                    <a:pt x="1226267" y="8224"/>
                  </a:cubicBezTo>
                  <a:cubicBezTo>
                    <a:pt x="1231533" y="13490"/>
                    <a:pt x="1234491" y="20632"/>
                    <a:pt x="1234491" y="28079"/>
                  </a:cubicBezTo>
                  <a:lnTo>
                    <a:pt x="1234491" y="1413122"/>
                  </a:lnTo>
                  <a:cubicBezTo>
                    <a:pt x="1234491" y="1428630"/>
                    <a:pt x="1221920" y="1441202"/>
                    <a:pt x="1206412" y="1441202"/>
                  </a:cubicBezTo>
                  <a:lnTo>
                    <a:pt x="28079" y="1441202"/>
                  </a:lnTo>
                  <a:cubicBezTo>
                    <a:pt x="20632" y="1441202"/>
                    <a:pt x="13490" y="1438243"/>
                    <a:pt x="8224" y="1432977"/>
                  </a:cubicBezTo>
                  <a:cubicBezTo>
                    <a:pt x="2958" y="1427711"/>
                    <a:pt x="0" y="1420569"/>
                    <a:pt x="0" y="1413122"/>
                  </a:cubicBezTo>
                  <a:lnTo>
                    <a:pt x="0" y="28079"/>
                  </a:lnTo>
                  <a:cubicBezTo>
                    <a:pt x="0" y="20632"/>
                    <a:pt x="2958" y="13490"/>
                    <a:pt x="8224" y="8224"/>
                  </a:cubicBezTo>
                  <a:cubicBezTo>
                    <a:pt x="13490" y="2958"/>
                    <a:pt x="20632" y="0"/>
                    <a:pt x="2807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B698B"/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234491" cy="14888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6798470" y="2406819"/>
            <a:ext cx="4687208" cy="5472062"/>
            <a:chOff x="0" y="0"/>
            <a:chExt cx="1234491" cy="1441202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234491" cy="1441202"/>
            </a:xfrm>
            <a:custGeom>
              <a:avLst/>
              <a:gdLst/>
              <a:ahLst/>
              <a:cxnLst/>
              <a:rect r="r" b="b" t="t" l="l"/>
              <a:pathLst>
                <a:path h="1441202" w="1234491">
                  <a:moveTo>
                    <a:pt x="28079" y="0"/>
                  </a:moveTo>
                  <a:lnTo>
                    <a:pt x="1206412" y="0"/>
                  </a:lnTo>
                  <a:cubicBezTo>
                    <a:pt x="1213859" y="0"/>
                    <a:pt x="1221001" y="2958"/>
                    <a:pt x="1226267" y="8224"/>
                  </a:cubicBezTo>
                  <a:cubicBezTo>
                    <a:pt x="1231533" y="13490"/>
                    <a:pt x="1234491" y="20632"/>
                    <a:pt x="1234491" y="28079"/>
                  </a:cubicBezTo>
                  <a:lnTo>
                    <a:pt x="1234491" y="1413122"/>
                  </a:lnTo>
                  <a:cubicBezTo>
                    <a:pt x="1234491" y="1428630"/>
                    <a:pt x="1221920" y="1441202"/>
                    <a:pt x="1206412" y="1441202"/>
                  </a:cubicBezTo>
                  <a:lnTo>
                    <a:pt x="28079" y="1441202"/>
                  </a:lnTo>
                  <a:cubicBezTo>
                    <a:pt x="20632" y="1441202"/>
                    <a:pt x="13490" y="1438243"/>
                    <a:pt x="8224" y="1432977"/>
                  </a:cubicBezTo>
                  <a:cubicBezTo>
                    <a:pt x="2958" y="1427711"/>
                    <a:pt x="0" y="1420569"/>
                    <a:pt x="0" y="1413122"/>
                  </a:cubicBezTo>
                  <a:lnTo>
                    <a:pt x="0" y="28079"/>
                  </a:lnTo>
                  <a:cubicBezTo>
                    <a:pt x="0" y="20632"/>
                    <a:pt x="2958" y="13490"/>
                    <a:pt x="8224" y="8224"/>
                  </a:cubicBezTo>
                  <a:cubicBezTo>
                    <a:pt x="13490" y="2958"/>
                    <a:pt x="20632" y="0"/>
                    <a:pt x="2807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B698B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1234491" cy="14888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028603" y="2408119"/>
            <a:ext cx="4687208" cy="5472062"/>
            <a:chOff x="0" y="0"/>
            <a:chExt cx="1234491" cy="144120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4491" cy="1441202"/>
            </a:xfrm>
            <a:custGeom>
              <a:avLst/>
              <a:gdLst/>
              <a:ahLst/>
              <a:cxnLst/>
              <a:rect r="r" b="b" t="t" l="l"/>
              <a:pathLst>
                <a:path h="1441202" w="1234491">
                  <a:moveTo>
                    <a:pt x="28079" y="0"/>
                  </a:moveTo>
                  <a:lnTo>
                    <a:pt x="1206412" y="0"/>
                  </a:lnTo>
                  <a:cubicBezTo>
                    <a:pt x="1213859" y="0"/>
                    <a:pt x="1221001" y="2958"/>
                    <a:pt x="1226267" y="8224"/>
                  </a:cubicBezTo>
                  <a:cubicBezTo>
                    <a:pt x="1231533" y="13490"/>
                    <a:pt x="1234491" y="20632"/>
                    <a:pt x="1234491" y="28079"/>
                  </a:cubicBezTo>
                  <a:lnTo>
                    <a:pt x="1234491" y="1413122"/>
                  </a:lnTo>
                  <a:cubicBezTo>
                    <a:pt x="1234491" y="1428630"/>
                    <a:pt x="1221920" y="1441202"/>
                    <a:pt x="1206412" y="1441202"/>
                  </a:cubicBezTo>
                  <a:lnTo>
                    <a:pt x="28079" y="1441202"/>
                  </a:lnTo>
                  <a:cubicBezTo>
                    <a:pt x="20632" y="1441202"/>
                    <a:pt x="13490" y="1438243"/>
                    <a:pt x="8224" y="1432977"/>
                  </a:cubicBezTo>
                  <a:cubicBezTo>
                    <a:pt x="2958" y="1427711"/>
                    <a:pt x="0" y="1420569"/>
                    <a:pt x="0" y="1413122"/>
                  </a:cubicBezTo>
                  <a:lnTo>
                    <a:pt x="0" y="28079"/>
                  </a:lnTo>
                  <a:cubicBezTo>
                    <a:pt x="0" y="20632"/>
                    <a:pt x="2958" y="13490"/>
                    <a:pt x="8224" y="8224"/>
                  </a:cubicBezTo>
                  <a:cubicBezTo>
                    <a:pt x="13490" y="2958"/>
                    <a:pt x="20632" y="0"/>
                    <a:pt x="28079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B698B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1234491" cy="14888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3310393" y="2832130"/>
            <a:ext cx="1210799" cy="1186089"/>
          </a:xfrm>
          <a:custGeom>
            <a:avLst/>
            <a:gdLst/>
            <a:ahLst/>
            <a:cxnLst/>
            <a:rect r="r" b="b" t="t" l="l"/>
            <a:pathLst>
              <a:path h="1186089" w="1210799">
                <a:moveTo>
                  <a:pt x="0" y="0"/>
                </a:moveTo>
                <a:lnTo>
                  <a:pt x="1210799" y="0"/>
                </a:lnTo>
                <a:lnTo>
                  <a:pt x="1210799" y="1186089"/>
                </a:lnTo>
                <a:lnTo>
                  <a:pt x="0" y="118608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557743" y="2957709"/>
            <a:ext cx="1168662" cy="934930"/>
          </a:xfrm>
          <a:custGeom>
            <a:avLst/>
            <a:gdLst/>
            <a:ahLst/>
            <a:cxnLst/>
            <a:rect r="r" b="b" t="t" l="l"/>
            <a:pathLst>
              <a:path h="934930" w="1168662">
                <a:moveTo>
                  <a:pt x="0" y="0"/>
                </a:moveTo>
                <a:lnTo>
                  <a:pt x="1168663" y="0"/>
                </a:lnTo>
                <a:lnTo>
                  <a:pt x="1168663" y="934930"/>
                </a:lnTo>
                <a:lnTo>
                  <a:pt x="0" y="9349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884245" y="2999316"/>
            <a:ext cx="975925" cy="851717"/>
          </a:xfrm>
          <a:custGeom>
            <a:avLst/>
            <a:gdLst/>
            <a:ahLst/>
            <a:cxnLst/>
            <a:rect r="r" b="b" t="t" l="l"/>
            <a:pathLst>
              <a:path h="851717" w="975925">
                <a:moveTo>
                  <a:pt x="0" y="0"/>
                </a:moveTo>
                <a:lnTo>
                  <a:pt x="975925" y="0"/>
                </a:lnTo>
                <a:lnTo>
                  <a:pt x="975925" y="851717"/>
                </a:lnTo>
                <a:lnTo>
                  <a:pt x="0" y="851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816808" y="1438998"/>
            <a:ext cx="3251057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Вибір технологій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810496" y="4445375"/>
            <a:ext cx="2210594" cy="49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b="true" sz="29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React &amp; Vite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798470" y="4445375"/>
            <a:ext cx="4687208" cy="49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b="true" sz="29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WebSockets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830646" y="4445375"/>
            <a:ext cx="3083123" cy="497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0"/>
              </a:lnSpc>
              <a:spcBef>
                <a:spcPct val="0"/>
              </a:spcBef>
            </a:pPr>
            <a:r>
              <a:rPr lang="en-US" b="true" sz="29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WebGL (Three.js)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039763" y="5232669"/>
            <a:ext cx="4368428" cy="2501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Створення компонентної архітектури (SPA) для швидкого рендерингу та управління складним станом інтерфейсу.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7311318" y="5232669"/>
            <a:ext cx="3643558" cy="25012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Двосторонній обмін даними в реальному часі для миттєвої синхронізації стану кімнати та чатів.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</a:p>
        </p:txBody>
      </p:sp>
      <p:sp>
        <p:nvSpPr>
          <p:cNvPr name="TextBox 27" id="27"/>
          <p:cNvSpPr txBox="true"/>
          <p:nvPr/>
        </p:nvSpPr>
        <p:spPr>
          <a:xfrm rot="0">
            <a:off x="12390553" y="5232669"/>
            <a:ext cx="4167668" cy="20821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Динамічний рендеринг тривимірного ігрового простору та переміщення фішок команд.</a:t>
            </a:r>
          </a:p>
          <a:p>
            <a:pPr algn="l">
              <a:lnSpc>
                <a:spcPts val="336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572189" y="1605576"/>
            <a:ext cx="9638537" cy="740034"/>
            <a:chOff x="0" y="0"/>
            <a:chExt cx="2538545" cy="1949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538545" cy="194906"/>
            </a:xfrm>
            <a:custGeom>
              <a:avLst/>
              <a:gdLst/>
              <a:ahLst/>
              <a:cxnLst/>
              <a:rect r="r" b="b" t="t" l="l"/>
              <a:pathLst>
                <a:path h="194906" w="2538545">
                  <a:moveTo>
                    <a:pt x="13655" y="0"/>
                  </a:moveTo>
                  <a:lnTo>
                    <a:pt x="2524890" y="0"/>
                  </a:lnTo>
                  <a:cubicBezTo>
                    <a:pt x="2532431" y="0"/>
                    <a:pt x="2538545" y="6113"/>
                    <a:pt x="2538545" y="13655"/>
                  </a:cubicBezTo>
                  <a:lnTo>
                    <a:pt x="2538545" y="181251"/>
                  </a:lnTo>
                  <a:cubicBezTo>
                    <a:pt x="2538545" y="188793"/>
                    <a:pt x="2532431" y="194906"/>
                    <a:pt x="2524890" y="194906"/>
                  </a:cubicBezTo>
                  <a:lnTo>
                    <a:pt x="13655" y="194906"/>
                  </a:lnTo>
                  <a:cubicBezTo>
                    <a:pt x="6113" y="194906"/>
                    <a:pt x="0" y="188793"/>
                    <a:pt x="0" y="181251"/>
                  </a:cubicBezTo>
                  <a:lnTo>
                    <a:pt x="0" y="13655"/>
                  </a:lnTo>
                  <a:cubicBezTo>
                    <a:pt x="0" y="6113"/>
                    <a:pt x="6113" y="0"/>
                    <a:pt x="13655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2538545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16808" y="1732388"/>
            <a:ext cx="1183272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Архітектура створенного програмного забезпечення</a:t>
            </a:r>
          </a:p>
        </p:txBody>
      </p:sp>
      <p:sp>
        <p:nvSpPr>
          <p:cNvPr name="Freeform 9" id="9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72189" y="2874964"/>
            <a:ext cx="14874422" cy="5043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Зас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тосунок поб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уд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овано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з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а методо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логією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Atomic Design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Ма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р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ш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р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ут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и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зац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ію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інтегро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в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ано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з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глоб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а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ль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н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ими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контекстами (AuthContext, LobbyProvider). 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</a:p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Взаємодію із серверною частиною абстраговано через спеціалізовані сервіси (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Axios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) та менеджер WebSocket-з'єднань.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</a:p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Автоматизоване розгортання та доставку оновлень налаштовано за допомогою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Vercel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для клієнтської частини та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Azure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(Ap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 Se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vice,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Post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g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r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SQL,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Redis) для серверної частини.</a:t>
            </a:r>
          </a:p>
        </p:txBody>
      </p:sp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031828" y="1669434"/>
            <a:ext cx="3293971" cy="740034"/>
            <a:chOff x="0" y="0"/>
            <a:chExt cx="867548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67548" cy="194906"/>
            </a:xfrm>
            <a:custGeom>
              <a:avLst/>
              <a:gdLst/>
              <a:ahLst/>
              <a:cxnLst/>
              <a:rect r="r" b="b" t="t" l="l"/>
              <a:pathLst>
                <a:path h="194906" w="867548">
                  <a:moveTo>
                    <a:pt x="39956" y="0"/>
                  </a:moveTo>
                  <a:lnTo>
                    <a:pt x="827592" y="0"/>
                  </a:lnTo>
                  <a:cubicBezTo>
                    <a:pt x="849659" y="0"/>
                    <a:pt x="867548" y="17889"/>
                    <a:pt x="867548" y="39956"/>
                  </a:cubicBezTo>
                  <a:lnTo>
                    <a:pt x="867548" y="154950"/>
                  </a:lnTo>
                  <a:cubicBezTo>
                    <a:pt x="867548" y="177017"/>
                    <a:pt x="849659" y="194906"/>
                    <a:pt x="827592" y="194906"/>
                  </a:cubicBezTo>
                  <a:lnTo>
                    <a:pt x="39956" y="194906"/>
                  </a:lnTo>
                  <a:cubicBezTo>
                    <a:pt x="29359" y="194906"/>
                    <a:pt x="19196" y="190696"/>
                    <a:pt x="11703" y="183203"/>
                  </a:cubicBezTo>
                  <a:cubicBezTo>
                    <a:pt x="4210" y="175710"/>
                    <a:pt x="0" y="165547"/>
                    <a:pt x="0" y="154950"/>
                  </a:cubicBezTo>
                  <a:lnTo>
                    <a:pt x="0" y="39956"/>
                  </a:lnTo>
                  <a:cubicBezTo>
                    <a:pt x="0" y="17889"/>
                    <a:pt x="17889" y="0"/>
                    <a:pt x="39956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6754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045395" y="2976690"/>
            <a:ext cx="676458" cy="560494"/>
          </a:xfrm>
          <a:custGeom>
            <a:avLst/>
            <a:gdLst/>
            <a:ahLst/>
            <a:cxnLst/>
            <a:rect r="r" b="b" t="t" l="l"/>
            <a:pathLst>
              <a:path h="560494" w="676458">
                <a:moveTo>
                  <a:pt x="0" y="0"/>
                </a:moveTo>
                <a:lnTo>
                  <a:pt x="676458" y="0"/>
                </a:lnTo>
                <a:lnTo>
                  <a:pt x="676458" y="560494"/>
                </a:lnTo>
                <a:lnTo>
                  <a:pt x="0" y="56049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064871" y="4059657"/>
            <a:ext cx="637506" cy="577740"/>
          </a:xfrm>
          <a:custGeom>
            <a:avLst/>
            <a:gdLst/>
            <a:ahLst/>
            <a:cxnLst/>
            <a:rect r="r" b="b" t="t" l="l"/>
            <a:pathLst>
              <a:path h="577740" w="637506">
                <a:moveTo>
                  <a:pt x="0" y="0"/>
                </a:moveTo>
                <a:lnTo>
                  <a:pt x="637506" y="0"/>
                </a:lnTo>
                <a:lnTo>
                  <a:pt x="637506" y="577740"/>
                </a:lnTo>
                <a:lnTo>
                  <a:pt x="0" y="57774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124055" y="5161272"/>
            <a:ext cx="519137" cy="537678"/>
          </a:xfrm>
          <a:custGeom>
            <a:avLst/>
            <a:gdLst/>
            <a:ahLst/>
            <a:cxnLst/>
            <a:rect r="r" b="b" t="t" l="l"/>
            <a:pathLst>
              <a:path h="537678" w="519137">
                <a:moveTo>
                  <a:pt x="0" y="0"/>
                </a:moveTo>
                <a:lnTo>
                  <a:pt x="519138" y="0"/>
                </a:lnTo>
                <a:lnTo>
                  <a:pt x="519138" y="537678"/>
                </a:lnTo>
                <a:lnTo>
                  <a:pt x="0" y="53767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034988" y="6222825"/>
            <a:ext cx="697272" cy="577740"/>
          </a:xfrm>
          <a:custGeom>
            <a:avLst/>
            <a:gdLst/>
            <a:ahLst/>
            <a:cxnLst/>
            <a:rect r="r" b="b" t="t" l="l"/>
            <a:pathLst>
              <a:path h="577740" w="697272">
                <a:moveTo>
                  <a:pt x="0" y="0"/>
                </a:moveTo>
                <a:lnTo>
                  <a:pt x="697272" y="0"/>
                </a:lnTo>
                <a:lnTo>
                  <a:pt x="697272" y="577740"/>
                </a:lnTo>
                <a:lnTo>
                  <a:pt x="0" y="57774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031828" y="7324440"/>
            <a:ext cx="703592" cy="582977"/>
          </a:xfrm>
          <a:custGeom>
            <a:avLst/>
            <a:gdLst/>
            <a:ahLst/>
            <a:cxnLst/>
            <a:rect r="r" b="b" t="t" l="l"/>
            <a:pathLst>
              <a:path h="582977" w="703592">
                <a:moveTo>
                  <a:pt x="0" y="0"/>
                </a:moveTo>
                <a:lnTo>
                  <a:pt x="703592" y="0"/>
                </a:lnTo>
                <a:lnTo>
                  <a:pt x="703592" y="582977"/>
                </a:lnTo>
                <a:lnTo>
                  <a:pt x="0" y="58297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276448" y="1796247"/>
            <a:ext cx="1183272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Етапи розробки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009085" y="2819043"/>
            <a:ext cx="14006534" cy="824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Авторизація та профілі: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р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еалізовано покрокову реєстрацію, Google SSO, управління токенами та налаштування аватарів.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009085" y="3942763"/>
            <a:ext cx="12895183" cy="824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Галерея контенту: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створено систему вкладок для публічних, збережених та власних мап і наборів карток.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009085" y="5009107"/>
            <a:ext cx="12895183" cy="824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Спеціалізовані редактори: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розроблено інтерфейси для створення словників та налаштування правил для кожної клітинки ігрової мапи.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009085" y="6075451"/>
            <a:ext cx="13516739" cy="824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Управління лобі: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в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проваджено гостьовий доступ, генерацію кімнат, систему запрошень та модерацію команд хостом.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009085" y="7179684"/>
            <a:ext cx="14116848" cy="8248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  <a:spcBef>
                <a:spcPct val="0"/>
              </a:spcBef>
            </a:pPr>
            <a:r>
              <a:rPr lang="en-US" b="true" sz="24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Ігровий цикл (WebSockets): 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і</a:t>
            </a:r>
            <a:r>
              <a:rPr lang="en-US" sz="2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нтегровано фази гри (підготовка, відгадування слів, перевірка результатів), синхронізацію таймерів та чати.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887117" y="1082654"/>
            <a:ext cx="3514013" cy="740034"/>
            <a:chOff x="0" y="0"/>
            <a:chExt cx="925501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5501" cy="194906"/>
            </a:xfrm>
            <a:custGeom>
              <a:avLst/>
              <a:gdLst/>
              <a:ahLst/>
              <a:cxnLst/>
              <a:rect r="r" b="b" t="t" l="l"/>
              <a:pathLst>
                <a:path h="194906" w="925501">
                  <a:moveTo>
                    <a:pt x="37454" y="0"/>
                  </a:moveTo>
                  <a:lnTo>
                    <a:pt x="888048" y="0"/>
                  </a:lnTo>
                  <a:cubicBezTo>
                    <a:pt x="908733" y="0"/>
                    <a:pt x="925501" y="16769"/>
                    <a:pt x="925501" y="37454"/>
                  </a:cubicBezTo>
                  <a:lnTo>
                    <a:pt x="925501" y="157452"/>
                  </a:lnTo>
                  <a:cubicBezTo>
                    <a:pt x="925501" y="178137"/>
                    <a:pt x="908733" y="194906"/>
                    <a:pt x="888048" y="194906"/>
                  </a:cubicBezTo>
                  <a:lnTo>
                    <a:pt x="37454" y="194906"/>
                  </a:lnTo>
                  <a:cubicBezTo>
                    <a:pt x="16769" y="194906"/>
                    <a:pt x="0" y="178137"/>
                    <a:pt x="0" y="157452"/>
                  </a:cubicBezTo>
                  <a:lnTo>
                    <a:pt x="0" y="37454"/>
                  </a:lnTo>
                  <a:cubicBezTo>
                    <a:pt x="0" y="16769"/>
                    <a:pt x="16769" y="0"/>
                    <a:pt x="37454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925501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8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31737" y="1209466"/>
            <a:ext cx="1183272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Ключові рішення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87117" y="2579462"/>
            <a:ext cx="6197203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Стійкість до розривів зв'язку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89617" y="3266902"/>
            <a:ext cx="14582113" cy="5605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Для WebSocket-з'єднань реалізовано стратегію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експоненціального збільшення інтервалу повторного підключення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(Exponential Backoff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),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а також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асинхронний механізм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періодичної перевірки активності з'єднання (Heartbeat), який не блокує виконання основного коду.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</a:p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Для REST API впроваджено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механізм черги запитів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під час оновлення токенів доступу (Token Refresh Queue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),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який забезпечує блокування нових запитів до завершення оновлення токена та запобігає виникненню стану гонитви (race condition).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00444" y="1457370"/>
            <a:ext cx="6411243" cy="740034"/>
            <a:chOff x="0" y="0"/>
            <a:chExt cx="1688558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88558" cy="194906"/>
            </a:xfrm>
            <a:custGeom>
              <a:avLst/>
              <a:gdLst/>
              <a:ahLst/>
              <a:cxnLst/>
              <a:rect r="r" b="b" t="t" l="l"/>
              <a:pathLst>
                <a:path h="194906" w="1688558">
                  <a:moveTo>
                    <a:pt x="20528" y="0"/>
                  </a:moveTo>
                  <a:lnTo>
                    <a:pt x="1668029" y="0"/>
                  </a:lnTo>
                  <a:cubicBezTo>
                    <a:pt x="1673474" y="0"/>
                    <a:pt x="1678695" y="2163"/>
                    <a:pt x="1682545" y="6013"/>
                  </a:cubicBezTo>
                  <a:cubicBezTo>
                    <a:pt x="1686395" y="9862"/>
                    <a:pt x="1688558" y="15084"/>
                    <a:pt x="1688558" y="20528"/>
                  </a:cubicBezTo>
                  <a:lnTo>
                    <a:pt x="1688558" y="174378"/>
                  </a:lnTo>
                  <a:cubicBezTo>
                    <a:pt x="1688558" y="179822"/>
                    <a:pt x="1686395" y="185044"/>
                    <a:pt x="1682545" y="188893"/>
                  </a:cubicBezTo>
                  <a:cubicBezTo>
                    <a:pt x="1678695" y="192743"/>
                    <a:pt x="1673474" y="194906"/>
                    <a:pt x="1668029" y="194906"/>
                  </a:cubicBezTo>
                  <a:lnTo>
                    <a:pt x="20528" y="194906"/>
                  </a:lnTo>
                  <a:cubicBezTo>
                    <a:pt x="15084" y="194906"/>
                    <a:pt x="9862" y="192743"/>
                    <a:pt x="6013" y="188893"/>
                  </a:cubicBezTo>
                  <a:cubicBezTo>
                    <a:pt x="2163" y="185044"/>
                    <a:pt x="0" y="179822"/>
                    <a:pt x="0" y="174378"/>
                  </a:cubicBezTo>
                  <a:lnTo>
                    <a:pt x="0" y="20528"/>
                  </a:lnTo>
                  <a:cubicBezTo>
                    <a:pt x="0" y="15084"/>
                    <a:pt x="2163" y="9862"/>
                    <a:pt x="6013" y="6013"/>
                  </a:cubicBezTo>
                  <a:cubicBezTo>
                    <a:pt x="9862" y="2163"/>
                    <a:pt x="15084" y="0"/>
                    <a:pt x="20528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68855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545064" y="1584182"/>
            <a:ext cx="11832725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Інтерфейс: Управління контентом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8379341" y="2916124"/>
            <a:ext cx="8608215" cy="4454751"/>
          </a:xfrm>
          <a:custGeom>
            <a:avLst/>
            <a:gdLst/>
            <a:ahLst/>
            <a:cxnLst/>
            <a:rect r="r" b="b" t="t" l="l"/>
            <a:pathLst>
              <a:path h="4454751" w="8608215">
                <a:moveTo>
                  <a:pt x="0" y="0"/>
                </a:moveTo>
                <a:lnTo>
                  <a:pt x="8608215" y="0"/>
                </a:lnTo>
                <a:lnTo>
                  <a:pt x="8608215" y="4454752"/>
                </a:lnTo>
                <a:lnTo>
                  <a:pt x="0" y="445475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  <a:ln w="38100" cap="sq">
            <a:solidFill>
              <a:srgbClr val="0B698B"/>
            </a:solidFill>
            <a:prstDash val="solid"/>
            <a:miter/>
          </a:ln>
        </p:spPr>
      </p:sp>
      <p:sp>
        <p:nvSpPr>
          <p:cNvPr name="TextBox 10" id="10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9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0444" y="4406165"/>
            <a:ext cx="6935627" cy="188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Каталогізація публічних та приватних наборів карток з можливостями фільтрації та швидкого збереження.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00444" y="3656172"/>
            <a:ext cx="1681758" cy="1109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Галерея</a:t>
            </a:r>
          </a:p>
          <a:p>
            <a:pPr algn="ctr">
              <a:lnSpc>
                <a:spcPts val="448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00444" y="1457370"/>
            <a:ext cx="6411243" cy="740034"/>
            <a:chOff x="0" y="0"/>
            <a:chExt cx="1688558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88558" cy="194906"/>
            </a:xfrm>
            <a:custGeom>
              <a:avLst/>
              <a:gdLst/>
              <a:ahLst/>
              <a:cxnLst/>
              <a:rect r="r" b="b" t="t" l="l"/>
              <a:pathLst>
                <a:path h="194906" w="1688558">
                  <a:moveTo>
                    <a:pt x="20528" y="0"/>
                  </a:moveTo>
                  <a:lnTo>
                    <a:pt x="1668029" y="0"/>
                  </a:lnTo>
                  <a:cubicBezTo>
                    <a:pt x="1673474" y="0"/>
                    <a:pt x="1678695" y="2163"/>
                    <a:pt x="1682545" y="6013"/>
                  </a:cubicBezTo>
                  <a:cubicBezTo>
                    <a:pt x="1686395" y="9862"/>
                    <a:pt x="1688558" y="15084"/>
                    <a:pt x="1688558" y="20528"/>
                  </a:cubicBezTo>
                  <a:lnTo>
                    <a:pt x="1688558" y="174378"/>
                  </a:lnTo>
                  <a:cubicBezTo>
                    <a:pt x="1688558" y="179822"/>
                    <a:pt x="1686395" y="185044"/>
                    <a:pt x="1682545" y="188893"/>
                  </a:cubicBezTo>
                  <a:cubicBezTo>
                    <a:pt x="1678695" y="192743"/>
                    <a:pt x="1673474" y="194906"/>
                    <a:pt x="1668029" y="194906"/>
                  </a:cubicBezTo>
                  <a:lnTo>
                    <a:pt x="20528" y="194906"/>
                  </a:lnTo>
                  <a:cubicBezTo>
                    <a:pt x="15084" y="194906"/>
                    <a:pt x="9862" y="192743"/>
                    <a:pt x="6013" y="188893"/>
                  </a:cubicBezTo>
                  <a:cubicBezTo>
                    <a:pt x="2163" y="185044"/>
                    <a:pt x="0" y="179822"/>
                    <a:pt x="0" y="174378"/>
                  </a:cubicBezTo>
                  <a:lnTo>
                    <a:pt x="0" y="20528"/>
                  </a:lnTo>
                  <a:cubicBezTo>
                    <a:pt x="0" y="15084"/>
                    <a:pt x="2163" y="9862"/>
                    <a:pt x="6013" y="6013"/>
                  </a:cubicBezTo>
                  <a:cubicBezTo>
                    <a:pt x="9862" y="2163"/>
                    <a:pt x="15084" y="0"/>
                    <a:pt x="20528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68855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379341" y="2912843"/>
            <a:ext cx="8653982" cy="4467618"/>
          </a:xfrm>
          <a:custGeom>
            <a:avLst/>
            <a:gdLst/>
            <a:ahLst/>
            <a:cxnLst/>
            <a:rect r="r" b="b" t="t" l="l"/>
            <a:pathLst>
              <a:path h="4467618" w="8653982">
                <a:moveTo>
                  <a:pt x="0" y="0"/>
                </a:moveTo>
                <a:lnTo>
                  <a:pt x="8653982" y="0"/>
                </a:lnTo>
                <a:lnTo>
                  <a:pt x="8653982" y="4467618"/>
                </a:lnTo>
                <a:lnTo>
                  <a:pt x="0" y="4467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  <a:ln w="38100" cap="sq">
            <a:solidFill>
              <a:srgbClr val="0B698B"/>
            </a:solidFill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545064" y="1584182"/>
            <a:ext cx="11832725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Інтерфейс: Управління контентом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0444" y="4406165"/>
            <a:ext cx="6935627" cy="188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окрокові форми зі строгою клієнтською валідацією для генерації нових мап та обрізки обкладинок.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00444" y="3656172"/>
            <a:ext cx="2267347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Ство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рення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00444" y="1457370"/>
            <a:ext cx="6411243" cy="740034"/>
            <a:chOff x="0" y="0"/>
            <a:chExt cx="1688558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688558" cy="194906"/>
            </a:xfrm>
            <a:custGeom>
              <a:avLst/>
              <a:gdLst/>
              <a:ahLst/>
              <a:cxnLst/>
              <a:rect r="r" b="b" t="t" l="l"/>
              <a:pathLst>
                <a:path h="194906" w="1688558">
                  <a:moveTo>
                    <a:pt x="20528" y="0"/>
                  </a:moveTo>
                  <a:lnTo>
                    <a:pt x="1668029" y="0"/>
                  </a:lnTo>
                  <a:cubicBezTo>
                    <a:pt x="1673474" y="0"/>
                    <a:pt x="1678695" y="2163"/>
                    <a:pt x="1682545" y="6013"/>
                  </a:cubicBezTo>
                  <a:cubicBezTo>
                    <a:pt x="1686395" y="9862"/>
                    <a:pt x="1688558" y="15084"/>
                    <a:pt x="1688558" y="20528"/>
                  </a:cubicBezTo>
                  <a:lnTo>
                    <a:pt x="1688558" y="174378"/>
                  </a:lnTo>
                  <a:cubicBezTo>
                    <a:pt x="1688558" y="179822"/>
                    <a:pt x="1686395" y="185044"/>
                    <a:pt x="1682545" y="188893"/>
                  </a:cubicBezTo>
                  <a:cubicBezTo>
                    <a:pt x="1678695" y="192743"/>
                    <a:pt x="1673474" y="194906"/>
                    <a:pt x="1668029" y="194906"/>
                  </a:cubicBezTo>
                  <a:lnTo>
                    <a:pt x="20528" y="194906"/>
                  </a:lnTo>
                  <a:cubicBezTo>
                    <a:pt x="15084" y="194906"/>
                    <a:pt x="9862" y="192743"/>
                    <a:pt x="6013" y="188893"/>
                  </a:cubicBezTo>
                  <a:cubicBezTo>
                    <a:pt x="2163" y="185044"/>
                    <a:pt x="0" y="179822"/>
                    <a:pt x="0" y="174378"/>
                  </a:cubicBezTo>
                  <a:lnTo>
                    <a:pt x="0" y="20528"/>
                  </a:lnTo>
                  <a:cubicBezTo>
                    <a:pt x="0" y="15084"/>
                    <a:pt x="2163" y="9862"/>
                    <a:pt x="6013" y="6013"/>
                  </a:cubicBezTo>
                  <a:cubicBezTo>
                    <a:pt x="9862" y="2163"/>
                    <a:pt x="15084" y="0"/>
                    <a:pt x="20528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68855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379341" y="2912843"/>
            <a:ext cx="8653982" cy="4483845"/>
          </a:xfrm>
          <a:custGeom>
            <a:avLst/>
            <a:gdLst/>
            <a:ahLst/>
            <a:cxnLst/>
            <a:rect r="r" b="b" t="t" l="l"/>
            <a:pathLst>
              <a:path h="4483845" w="8653982">
                <a:moveTo>
                  <a:pt x="0" y="0"/>
                </a:moveTo>
                <a:lnTo>
                  <a:pt x="8653982" y="0"/>
                </a:lnTo>
                <a:lnTo>
                  <a:pt x="8653982" y="4483844"/>
                </a:lnTo>
                <a:lnTo>
                  <a:pt x="0" y="44838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  <a:ln w="38100" cap="sq">
            <a:solidFill>
              <a:srgbClr val="0B698B"/>
            </a:solidFill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545064" y="1584182"/>
            <a:ext cx="11832725" cy="895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Інтерфейс: Управління контентом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11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0444" y="4406165"/>
            <a:ext cx="6935627" cy="1884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Інте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рактивна CSS-сітка для детального налаштування правил (нагорода, штраф, ліміт часу) для кожної клітинки.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00444" y="3656172"/>
            <a:ext cx="2941935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Редакто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р мап</a:t>
            </a:r>
          </a:p>
        </p:txBody>
      </p: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00444" y="1457370"/>
            <a:ext cx="3205676" cy="740034"/>
            <a:chOff x="0" y="0"/>
            <a:chExt cx="844293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44293" cy="194906"/>
            </a:xfrm>
            <a:custGeom>
              <a:avLst/>
              <a:gdLst/>
              <a:ahLst/>
              <a:cxnLst/>
              <a:rect r="r" b="b" t="t" l="l"/>
              <a:pathLst>
                <a:path h="194906" w="844293">
                  <a:moveTo>
                    <a:pt x="41056" y="0"/>
                  </a:moveTo>
                  <a:lnTo>
                    <a:pt x="803237" y="0"/>
                  </a:lnTo>
                  <a:cubicBezTo>
                    <a:pt x="814126" y="0"/>
                    <a:pt x="824569" y="4326"/>
                    <a:pt x="832268" y="12025"/>
                  </a:cubicBezTo>
                  <a:cubicBezTo>
                    <a:pt x="839968" y="19725"/>
                    <a:pt x="844293" y="30167"/>
                    <a:pt x="844293" y="41056"/>
                  </a:cubicBezTo>
                  <a:lnTo>
                    <a:pt x="844293" y="153850"/>
                  </a:lnTo>
                  <a:cubicBezTo>
                    <a:pt x="844293" y="176525"/>
                    <a:pt x="825912" y="194906"/>
                    <a:pt x="803237" y="194906"/>
                  </a:cubicBezTo>
                  <a:lnTo>
                    <a:pt x="41056" y="194906"/>
                  </a:lnTo>
                  <a:cubicBezTo>
                    <a:pt x="18381" y="194906"/>
                    <a:pt x="0" y="176525"/>
                    <a:pt x="0" y="153850"/>
                  </a:cubicBezTo>
                  <a:lnTo>
                    <a:pt x="0" y="41056"/>
                  </a:lnTo>
                  <a:cubicBezTo>
                    <a:pt x="0" y="18381"/>
                    <a:pt x="18381" y="0"/>
                    <a:pt x="41056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844293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063459" y="1827387"/>
            <a:ext cx="8047890" cy="4114484"/>
          </a:xfrm>
          <a:custGeom>
            <a:avLst/>
            <a:gdLst/>
            <a:ahLst/>
            <a:cxnLst/>
            <a:rect r="r" b="b" t="t" l="l"/>
            <a:pathLst>
              <a:path h="4114484" w="8047890">
                <a:moveTo>
                  <a:pt x="0" y="0"/>
                </a:moveTo>
                <a:lnTo>
                  <a:pt x="8047891" y="0"/>
                </a:lnTo>
                <a:lnTo>
                  <a:pt x="8047891" y="4114484"/>
                </a:lnTo>
                <a:lnTo>
                  <a:pt x="0" y="411448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  <a:ln w="38100" cap="sq">
            <a:solidFill>
              <a:srgbClr val="0B698B"/>
            </a:solidFill>
            <a:prstDash val="solid"/>
            <a:miter/>
          </a:ln>
        </p:spPr>
      </p:sp>
      <p:sp>
        <p:nvSpPr>
          <p:cNvPr name="TextBox 9" id="9"/>
          <p:cNvSpPr txBox="true"/>
          <p:nvPr/>
        </p:nvSpPr>
        <p:spPr>
          <a:xfrm rot="0">
            <a:off x="1545064" y="1584182"/>
            <a:ext cx="11832725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Ігровий процес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0444" y="3527740"/>
            <a:ext cx="7589824" cy="2360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Інте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рфейс ігрового лобі </a:t>
            </a: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забезпечує динамічне управління командами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Будь-який гравець може приєднатися до лобі за кодом, навіть </a:t>
            </a:r>
            <a:r>
              <a:rPr lang="en-US" b="true" sz="27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без реєстрації</a:t>
            </a:r>
            <a:r>
              <a:rPr lang="en-US" sz="27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(Guest Mode).</a:t>
            </a:r>
          </a:p>
          <a:p>
            <a:pPr algn="l">
              <a:lnSpc>
                <a:spcPts val="3780"/>
              </a:lnSpc>
              <a:spcBef>
                <a:spcPct val="0"/>
              </a:spcBef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00444" y="2777747"/>
            <a:ext cx="8377679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Синхронізація в реальному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 часі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00444" y="6291169"/>
            <a:ext cx="15854519" cy="181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Під час гри система </a:t>
            </a:r>
            <a:r>
              <a:rPr lang="en-US" b="true" sz="26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автоматично керує зміною ролей</a:t>
            </a:r>
            <a:r>
              <a:rPr lang="en-US" sz="26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(Ведучий/Гравець), </a:t>
            </a:r>
            <a:r>
              <a:rPr lang="en-US" b="true" sz="26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відображає </a:t>
            </a:r>
            <a:r>
              <a:rPr lang="en-US" sz="26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синхронізований сервером </a:t>
            </a:r>
            <a:r>
              <a:rPr lang="en-US" b="true" sz="26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таймер </a:t>
            </a:r>
            <a:r>
              <a:rPr lang="en-US" sz="26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та надає </a:t>
            </a:r>
            <a:r>
              <a:rPr lang="en-US" b="true" sz="26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доступ до ізольованих чатів</a:t>
            </a:r>
            <a:r>
              <a:rPr lang="en-US" sz="26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(командний та глобальний). Усі дії, такі як свайп карток чи зміна рахунку, миттєво обробляються через WebSocket диспетчер подій.</a:t>
            </a:r>
          </a:p>
        </p:txBody>
      </p: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3">
              <a:alphaModFix amt="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00444" y="1213693"/>
            <a:ext cx="2442445" cy="740034"/>
            <a:chOff x="0" y="0"/>
            <a:chExt cx="643278" cy="1949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43278" cy="194906"/>
            </a:xfrm>
            <a:custGeom>
              <a:avLst/>
              <a:gdLst/>
              <a:ahLst/>
              <a:cxnLst/>
              <a:rect r="r" b="b" t="t" l="l"/>
              <a:pathLst>
                <a:path h="194906" w="643278">
                  <a:moveTo>
                    <a:pt x="53886" y="0"/>
                  </a:moveTo>
                  <a:lnTo>
                    <a:pt x="589392" y="0"/>
                  </a:lnTo>
                  <a:cubicBezTo>
                    <a:pt x="603684" y="0"/>
                    <a:pt x="617389" y="5677"/>
                    <a:pt x="627495" y="15783"/>
                  </a:cubicBezTo>
                  <a:cubicBezTo>
                    <a:pt x="637601" y="25888"/>
                    <a:pt x="643278" y="39594"/>
                    <a:pt x="643278" y="53886"/>
                  </a:cubicBezTo>
                  <a:lnTo>
                    <a:pt x="643278" y="141020"/>
                  </a:lnTo>
                  <a:cubicBezTo>
                    <a:pt x="643278" y="155312"/>
                    <a:pt x="637601" y="169018"/>
                    <a:pt x="627495" y="179123"/>
                  </a:cubicBezTo>
                  <a:cubicBezTo>
                    <a:pt x="617389" y="189229"/>
                    <a:pt x="603684" y="194906"/>
                    <a:pt x="589392" y="194906"/>
                  </a:cubicBezTo>
                  <a:lnTo>
                    <a:pt x="53886" y="194906"/>
                  </a:lnTo>
                  <a:cubicBezTo>
                    <a:pt x="39594" y="194906"/>
                    <a:pt x="25888" y="189229"/>
                    <a:pt x="15783" y="179123"/>
                  </a:cubicBezTo>
                  <a:cubicBezTo>
                    <a:pt x="5677" y="169018"/>
                    <a:pt x="0" y="155312"/>
                    <a:pt x="0" y="141020"/>
                  </a:cubicBezTo>
                  <a:lnTo>
                    <a:pt x="0" y="53886"/>
                  </a:lnTo>
                  <a:cubicBezTo>
                    <a:pt x="0" y="39594"/>
                    <a:pt x="5677" y="25888"/>
                    <a:pt x="15783" y="15783"/>
                  </a:cubicBezTo>
                  <a:cubicBezTo>
                    <a:pt x="25888" y="5677"/>
                    <a:pt x="39594" y="0"/>
                    <a:pt x="53886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64327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7031298" y="2436695"/>
            <a:ext cx="9727604" cy="3625470"/>
          </a:xfrm>
          <a:custGeom>
            <a:avLst/>
            <a:gdLst/>
            <a:ahLst/>
            <a:cxnLst/>
            <a:rect r="r" b="b" t="t" l="l"/>
            <a:pathLst>
              <a:path h="3625470" w="9727604">
                <a:moveTo>
                  <a:pt x="0" y="0"/>
                </a:moveTo>
                <a:lnTo>
                  <a:pt x="9727604" y="0"/>
                </a:lnTo>
                <a:lnTo>
                  <a:pt x="9727604" y="3625470"/>
                </a:lnTo>
                <a:lnTo>
                  <a:pt x="0" y="36254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8809" t="-8251" r="0" b="-44294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545064" y="1340505"/>
            <a:ext cx="2025927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Тестування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0444" y="2525227"/>
            <a:ext cx="4517148" cy="372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  <a:spcBef>
                <a:spcPct val="0"/>
              </a:spcBef>
            </a:pPr>
            <a:r>
              <a:rPr lang="en-US" sz="2144" b="tru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Утиліти та алгоритми (Unit)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00444" y="3472492"/>
            <a:ext cx="4265243" cy="372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  <a:spcBef>
                <a:spcPct val="0"/>
              </a:spcBef>
            </a:pPr>
            <a:r>
              <a:rPr lang="en-US" sz="2144" b="tru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Обробка WebSocket (Reducer)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00444" y="4417362"/>
            <a:ext cx="5188032" cy="372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  <a:spcBef>
                <a:spcPct val="0"/>
              </a:spcBef>
            </a:pPr>
            <a:r>
              <a:rPr lang="en-US" sz="2144" b="tru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Форми автентифікації (Integration)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0444" y="5362232"/>
            <a:ext cx="5634980" cy="3724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  <a:spcBef>
                <a:spcPct val="0"/>
              </a:spcBef>
            </a:pPr>
            <a:r>
              <a:rPr lang="en-US" sz="2144" b="true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Ігровий цикл та таймери (Integration)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00444" y="6610985"/>
            <a:ext cx="15825489" cy="181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Комплексне тестування (Vitest) гарантує безпомилкову роботу фундаментальних алгоритмів та стабільність інтерактивних UI-модулів. Мануальне тестування підтвердило кросбраузерність WebGL та толерантність до розривів мережі.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8689" y="8886975"/>
            <a:ext cx="1468428" cy="992740"/>
          </a:xfrm>
          <a:custGeom>
            <a:avLst/>
            <a:gdLst/>
            <a:ahLst/>
            <a:cxnLst/>
            <a:rect r="r" b="b" t="t" l="l"/>
            <a:pathLst>
              <a:path h="992740" w="1468428">
                <a:moveTo>
                  <a:pt x="0" y="0"/>
                </a:moveTo>
                <a:lnTo>
                  <a:pt x="1468428" y="0"/>
                </a:lnTo>
                <a:lnTo>
                  <a:pt x="1468428" y="992740"/>
                </a:lnTo>
                <a:lnTo>
                  <a:pt x="0" y="9927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00444" y="2827380"/>
            <a:ext cx="2132621" cy="740034"/>
            <a:chOff x="0" y="0"/>
            <a:chExt cx="561678" cy="19490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61678" cy="194906"/>
            </a:xfrm>
            <a:custGeom>
              <a:avLst/>
              <a:gdLst/>
              <a:ahLst/>
              <a:cxnLst/>
              <a:rect r="r" b="b" t="t" l="l"/>
              <a:pathLst>
                <a:path h="194906" w="561678">
                  <a:moveTo>
                    <a:pt x="61714" y="0"/>
                  </a:moveTo>
                  <a:lnTo>
                    <a:pt x="499964" y="0"/>
                  </a:lnTo>
                  <a:cubicBezTo>
                    <a:pt x="516332" y="0"/>
                    <a:pt x="532029" y="6502"/>
                    <a:pt x="543602" y="18076"/>
                  </a:cubicBezTo>
                  <a:cubicBezTo>
                    <a:pt x="555176" y="29649"/>
                    <a:pt x="561678" y="45346"/>
                    <a:pt x="561678" y="61714"/>
                  </a:cubicBezTo>
                  <a:lnTo>
                    <a:pt x="561678" y="133192"/>
                  </a:lnTo>
                  <a:cubicBezTo>
                    <a:pt x="561678" y="149560"/>
                    <a:pt x="555176" y="165257"/>
                    <a:pt x="543602" y="176830"/>
                  </a:cubicBezTo>
                  <a:cubicBezTo>
                    <a:pt x="532029" y="188404"/>
                    <a:pt x="516332" y="194906"/>
                    <a:pt x="499964" y="194906"/>
                  </a:cubicBezTo>
                  <a:lnTo>
                    <a:pt x="61714" y="194906"/>
                  </a:lnTo>
                  <a:cubicBezTo>
                    <a:pt x="45346" y="194906"/>
                    <a:pt x="29649" y="188404"/>
                    <a:pt x="18076" y="176830"/>
                  </a:cubicBezTo>
                  <a:cubicBezTo>
                    <a:pt x="6502" y="165257"/>
                    <a:pt x="0" y="149560"/>
                    <a:pt x="0" y="133192"/>
                  </a:cubicBezTo>
                  <a:lnTo>
                    <a:pt x="0" y="61714"/>
                  </a:lnTo>
                  <a:cubicBezTo>
                    <a:pt x="0" y="45346"/>
                    <a:pt x="6502" y="29649"/>
                    <a:pt x="18076" y="18076"/>
                  </a:cubicBezTo>
                  <a:cubicBezTo>
                    <a:pt x="29649" y="6502"/>
                    <a:pt x="45346" y="0"/>
                    <a:pt x="61714" y="0"/>
                  </a:cubicBezTo>
                  <a:close/>
                </a:path>
              </a:pathLst>
            </a:custGeom>
            <a:solidFill>
              <a:srgbClr val="0B698B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561678" cy="2425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6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979877" y="7069088"/>
            <a:ext cx="5558051" cy="4114800"/>
          </a:xfrm>
          <a:custGeom>
            <a:avLst/>
            <a:gdLst/>
            <a:ahLst/>
            <a:cxnLst/>
            <a:rect r="r" b="b" t="t" l="l"/>
            <a:pathLst>
              <a:path h="4114800" w="5558051">
                <a:moveTo>
                  <a:pt x="0" y="0"/>
                </a:moveTo>
                <a:lnTo>
                  <a:pt x="5558050" y="0"/>
                </a:lnTo>
                <a:lnTo>
                  <a:pt x="555805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45064" y="2954193"/>
            <a:ext cx="2025927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sz="2600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Підсумки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758902" y="9069338"/>
            <a:ext cx="734062" cy="4152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360"/>
              </a:lnSpc>
            </a:pPr>
            <a:r>
              <a:rPr lang="en-US" sz="24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14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00444" y="4229204"/>
            <a:ext cx="15958856" cy="1671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Розроблена архітектура клієнтської частини довела свою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продуктивність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,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гнучкість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управління вмістом та </a:t>
            </a:r>
            <a:r>
              <a:rPr lang="en-US" b="true" sz="3200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готовність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до безперервного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масштабування </a:t>
            </a:r>
            <a:r>
              <a:rPr lang="en-US" sz="32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в робочому середовищі.</a:t>
            </a:r>
          </a:p>
        </p:txBody>
      </p:sp>
      <p:sp>
        <p:nvSpPr>
          <p:cNvPr name="Freeform 10" id="10"/>
          <p:cNvSpPr/>
          <p:nvPr/>
        </p:nvSpPr>
        <p:spPr>
          <a:xfrm flipH="false" flipV="true" rot="619855">
            <a:off x="-1017847" y="-671508"/>
            <a:ext cx="4673729" cy="5711913"/>
          </a:xfrm>
          <a:custGeom>
            <a:avLst/>
            <a:gdLst/>
            <a:ahLst/>
            <a:cxnLst/>
            <a:rect r="r" b="b" t="t" l="l"/>
            <a:pathLst>
              <a:path h="5711913" w="4673729">
                <a:moveTo>
                  <a:pt x="0" y="5711914"/>
                </a:moveTo>
                <a:lnTo>
                  <a:pt x="4673730" y="5711914"/>
                </a:lnTo>
                <a:lnTo>
                  <a:pt x="4673730" y="0"/>
                </a:lnTo>
                <a:lnTo>
                  <a:pt x="0" y="0"/>
                </a:lnTo>
                <a:lnTo>
                  <a:pt x="0" y="5711914"/>
                </a:lnTo>
                <a:close/>
              </a:path>
            </a:pathLst>
          </a:custGeom>
          <a:blipFill>
            <a:blip r:embed="rId5">
              <a:alphaModFix amt="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DAHOhpPXz9E</dc:identifier>
  <dcterms:modified xsi:type="dcterms:W3CDTF">2011-08-01T06:04:30Z</dcterms:modified>
  <cp:revision>1</cp:revision>
  <dc:title>2026_Б_ПІ_ПЗПІ_22_4_Кожанов_О_Ю</dc:title>
</cp:coreProperties>
</file>