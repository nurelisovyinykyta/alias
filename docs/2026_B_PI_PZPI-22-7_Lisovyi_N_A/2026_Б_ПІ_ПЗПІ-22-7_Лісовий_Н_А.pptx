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" charset="1" panose="00000000000000000000"/>
      <p:regular r:id="rId18"/>
    </p:embeddedFont>
    <p:embeddedFont>
      <p:font typeface="DM Sans Bold" charset="1" panose="00000000000000000000"/>
      <p:regular r:id="rId19"/>
    </p:embeddedFont>
    <p:embeddedFont>
      <p:font typeface="Roboto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25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496040"/>
            <a:ext cx="3915785" cy="716029"/>
          </a:xfrm>
          <a:custGeom>
            <a:avLst/>
            <a:gdLst/>
            <a:ahLst/>
            <a:cxnLst/>
            <a:rect r="r" b="b" t="t" l="l"/>
            <a:pathLst>
              <a:path h="716029" w="3915785">
                <a:moveTo>
                  <a:pt x="0" y="0"/>
                </a:moveTo>
                <a:lnTo>
                  <a:pt x="3915785" y="0"/>
                </a:lnTo>
                <a:lnTo>
                  <a:pt x="3915785" y="716029"/>
                </a:lnTo>
                <a:lnTo>
                  <a:pt x="0" y="716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36644" y="427491"/>
            <a:ext cx="3732431" cy="853127"/>
          </a:xfrm>
          <a:custGeom>
            <a:avLst/>
            <a:gdLst/>
            <a:ahLst/>
            <a:cxnLst/>
            <a:rect r="r" b="b" t="t" l="l"/>
            <a:pathLst>
              <a:path h="853127" w="3732431">
                <a:moveTo>
                  <a:pt x="0" y="0"/>
                </a:moveTo>
                <a:lnTo>
                  <a:pt x="3732432" y="0"/>
                </a:lnTo>
                <a:lnTo>
                  <a:pt x="3732432" y="853127"/>
                </a:lnTo>
                <a:lnTo>
                  <a:pt x="0" y="853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67911" y="3522428"/>
            <a:ext cx="14393498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Вебплатформа для багатокористувацької гри в Alias із підтримкою офіційних і користувацьких карт та правил гри та засобів соціальної взаємодії: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Back-end, DevOps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55279" y="2432142"/>
            <a:ext cx="2732251" cy="740034"/>
            <a:chOff x="0" y="0"/>
            <a:chExt cx="719605" cy="1949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9605" cy="194906"/>
            </a:xfrm>
            <a:custGeom>
              <a:avLst/>
              <a:gdLst/>
              <a:ahLst/>
              <a:cxnLst/>
              <a:rect r="r" b="b" t="t" l="l"/>
              <a:pathLst>
                <a:path h="194906" w="719605">
                  <a:moveTo>
                    <a:pt x="48170" y="0"/>
                  </a:moveTo>
                  <a:lnTo>
                    <a:pt x="671435" y="0"/>
                  </a:lnTo>
                  <a:cubicBezTo>
                    <a:pt x="698039" y="0"/>
                    <a:pt x="719605" y="21566"/>
                    <a:pt x="719605" y="48170"/>
                  </a:cubicBezTo>
                  <a:lnTo>
                    <a:pt x="719605" y="146736"/>
                  </a:lnTo>
                  <a:cubicBezTo>
                    <a:pt x="719605" y="173340"/>
                    <a:pt x="698039" y="194906"/>
                    <a:pt x="671435" y="194906"/>
                  </a:cubicBezTo>
                  <a:lnTo>
                    <a:pt x="48170" y="194906"/>
                  </a:lnTo>
                  <a:cubicBezTo>
                    <a:pt x="21566" y="194906"/>
                    <a:pt x="0" y="173340"/>
                    <a:pt x="0" y="146736"/>
                  </a:cubicBezTo>
                  <a:lnTo>
                    <a:pt x="0" y="48170"/>
                  </a:lnTo>
                  <a:cubicBezTo>
                    <a:pt x="0" y="21566"/>
                    <a:pt x="21566" y="0"/>
                    <a:pt x="48170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19605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99899" y="2558954"/>
            <a:ext cx="279311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Тема роботи: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7911" y="7800135"/>
            <a:ext cx="60022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Лісовий Нікіта Андрійович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0442" y="7191082"/>
            <a:ext cx="595759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доц. кафедри ПІ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61411" y="9069338"/>
            <a:ext cx="3765177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 червня 2026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55279" y="6241498"/>
            <a:ext cx="2084220" cy="740034"/>
            <a:chOff x="0" y="0"/>
            <a:chExt cx="548930" cy="1949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930" cy="194906"/>
            </a:xfrm>
            <a:custGeom>
              <a:avLst/>
              <a:gdLst/>
              <a:ahLst/>
              <a:cxnLst/>
              <a:rect r="r" b="b" t="t" l="l"/>
              <a:pathLst>
                <a:path h="194906" w="548930">
                  <a:moveTo>
                    <a:pt x="63147" y="0"/>
                  </a:moveTo>
                  <a:lnTo>
                    <a:pt x="485783" y="0"/>
                  </a:lnTo>
                  <a:cubicBezTo>
                    <a:pt x="520658" y="0"/>
                    <a:pt x="548930" y="28272"/>
                    <a:pt x="548930" y="63147"/>
                  </a:cubicBezTo>
                  <a:lnTo>
                    <a:pt x="548930" y="131759"/>
                  </a:lnTo>
                  <a:cubicBezTo>
                    <a:pt x="548930" y="148507"/>
                    <a:pt x="542277" y="164568"/>
                    <a:pt x="530435" y="176411"/>
                  </a:cubicBezTo>
                  <a:cubicBezTo>
                    <a:pt x="518592" y="188253"/>
                    <a:pt x="502531" y="194906"/>
                    <a:pt x="485783" y="194906"/>
                  </a:cubicBezTo>
                  <a:lnTo>
                    <a:pt x="63147" y="194906"/>
                  </a:lnTo>
                  <a:cubicBezTo>
                    <a:pt x="46400" y="194906"/>
                    <a:pt x="30338" y="188253"/>
                    <a:pt x="18495" y="176411"/>
                  </a:cubicBezTo>
                  <a:cubicBezTo>
                    <a:pt x="6653" y="164568"/>
                    <a:pt x="0" y="148507"/>
                    <a:pt x="0" y="131759"/>
                  </a:cubicBezTo>
                  <a:lnTo>
                    <a:pt x="0" y="63147"/>
                  </a:lnTo>
                  <a:cubicBezTo>
                    <a:pt x="0" y="46400"/>
                    <a:pt x="6653" y="30338"/>
                    <a:pt x="18495" y="18495"/>
                  </a:cubicBezTo>
                  <a:cubicBezTo>
                    <a:pt x="30338" y="6653"/>
                    <a:pt x="46400" y="0"/>
                    <a:pt x="63147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48930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299899" y="6368310"/>
            <a:ext cx="165623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Виконав: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30442" y="6241498"/>
            <a:ext cx="2176825" cy="740034"/>
            <a:chOff x="0" y="0"/>
            <a:chExt cx="573320" cy="1949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3320" cy="194906"/>
            </a:xfrm>
            <a:custGeom>
              <a:avLst/>
              <a:gdLst/>
              <a:ahLst/>
              <a:cxnLst/>
              <a:rect r="r" b="b" t="t" l="l"/>
              <a:pathLst>
                <a:path h="194906" w="573320">
                  <a:moveTo>
                    <a:pt x="60461" y="0"/>
                  </a:moveTo>
                  <a:lnTo>
                    <a:pt x="512859" y="0"/>
                  </a:lnTo>
                  <a:cubicBezTo>
                    <a:pt x="528895" y="0"/>
                    <a:pt x="544273" y="6370"/>
                    <a:pt x="555612" y="17709"/>
                  </a:cubicBezTo>
                  <a:cubicBezTo>
                    <a:pt x="566950" y="29047"/>
                    <a:pt x="573320" y="44426"/>
                    <a:pt x="573320" y="60461"/>
                  </a:cubicBezTo>
                  <a:lnTo>
                    <a:pt x="573320" y="134445"/>
                  </a:lnTo>
                  <a:cubicBezTo>
                    <a:pt x="573320" y="150480"/>
                    <a:pt x="566950" y="165859"/>
                    <a:pt x="555612" y="177197"/>
                  </a:cubicBezTo>
                  <a:cubicBezTo>
                    <a:pt x="544273" y="188536"/>
                    <a:pt x="528895" y="194906"/>
                    <a:pt x="512859" y="194906"/>
                  </a:cubicBezTo>
                  <a:lnTo>
                    <a:pt x="60461" y="194906"/>
                  </a:lnTo>
                  <a:cubicBezTo>
                    <a:pt x="44426" y="194906"/>
                    <a:pt x="29047" y="188536"/>
                    <a:pt x="17709" y="177197"/>
                  </a:cubicBezTo>
                  <a:cubicBezTo>
                    <a:pt x="6370" y="165859"/>
                    <a:pt x="0" y="150480"/>
                    <a:pt x="0" y="134445"/>
                  </a:cubicBezTo>
                  <a:lnTo>
                    <a:pt x="0" y="60461"/>
                  </a:lnTo>
                  <a:cubicBezTo>
                    <a:pt x="0" y="44426"/>
                    <a:pt x="6370" y="29047"/>
                    <a:pt x="17709" y="17709"/>
                  </a:cubicBezTo>
                  <a:cubicBezTo>
                    <a:pt x="29047" y="6370"/>
                    <a:pt x="44426" y="0"/>
                    <a:pt x="60461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73320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475062" y="6368310"/>
            <a:ext cx="18396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Керівник: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91878" y="7191082"/>
            <a:ext cx="60022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ПЗПІ-22-7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30442" y="7800135"/>
            <a:ext cx="60022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Колесников Дмитро Олегович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6789" y="1328081"/>
            <a:ext cx="5567302" cy="740034"/>
            <a:chOff x="0" y="0"/>
            <a:chExt cx="1466285" cy="194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6285" cy="194906"/>
            </a:xfrm>
            <a:custGeom>
              <a:avLst/>
              <a:gdLst/>
              <a:ahLst/>
              <a:cxnLst/>
              <a:rect r="r" b="b" t="t" l="l"/>
              <a:pathLst>
                <a:path h="194906" w="1466285">
                  <a:moveTo>
                    <a:pt x="23640" y="0"/>
                  </a:moveTo>
                  <a:lnTo>
                    <a:pt x="1442645" y="0"/>
                  </a:lnTo>
                  <a:cubicBezTo>
                    <a:pt x="1448915" y="0"/>
                    <a:pt x="1454928" y="2491"/>
                    <a:pt x="1459361" y="6924"/>
                  </a:cubicBezTo>
                  <a:cubicBezTo>
                    <a:pt x="1463795" y="11357"/>
                    <a:pt x="1466285" y="17370"/>
                    <a:pt x="1466285" y="23640"/>
                  </a:cubicBezTo>
                  <a:lnTo>
                    <a:pt x="1466285" y="171266"/>
                  </a:lnTo>
                  <a:cubicBezTo>
                    <a:pt x="1466285" y="177536"/>
                    <a:pt x="1463795" y="183549"/>
                    <a:pt x="1459361" y="187982"/>
                  </a:cubicBezTo>
                  <a:cubicBezTo>
                    <a:pt x="1454928" y="192415"/>
                    <a:pt x="1448915" y="194906"/>
                    <a:pt x="1442645" y="194906"/>
                  </a:cubicBezTo>
                  <a:lnTo>
                    <a:pt x="23640" y="194906"/>
                  </a:lnTo>
                  <a:cubicBezTo>
                    <a:pt x="17370" y="194906"/>
                    <a:pt x="11357" y="192415"/>
                    <a:pt x="6924" y="187982"/>
                  </a:cubicBezTo>
                  <a:cubicBezTo>
                    <a:pt x="2491" y="183549"/>
                    <a:pt x="0" y="177536"/>
                    <a:pt x="0" y="171266"/>
                  </a:cubicBezTo>
                  <a:lnTo>
                    <a:pt x="0" y="23640"/>
                  </a:lnTo>
                  <a:cubicBezTo>
                    <a:pt x="0" y="17370"/>
                    <a:pt x="2491" y="11357"/>
                    <a:pt x="6924" y="6924"/>
                  </a:cubicBezTo>
                  <a:cubicBezTo>
                    <a:pt x="11357" y="2491"/>
                    <a:pt x="17370" y="0"/>
                    <a:pt x="23640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66285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51409" y="1454893"/>
            <a:ext cx="532268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Мета та актуальність роботи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74114" y="2406169"/>
            <a:ext cx="7303998" cy="5472062"/>
            <a:chOff x="0" y="0"/>
            <a:chExt cx="1923687" cy="14412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3687" cy="1441202"/>
            </a:xfrm>
            <a:custGeom>
              <a:avLst/>
              <a:gdLst/>
              <a:ahLst/>
              <a:cxnLst/>
              <a:rect r="r" b="b" t="t" l="l"/>
              <a:pathLst>
                <a:path h="1441202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1423182"/>
                  </a:lnTo>
                  <a:cubicBezTo>
                    <a:pt x="1923687" y="1427961"/>
                    <a:pt x="1921788" y="1432545"/>
                    <a:pt x="1918409" y="1435924"/>
                  </a:cubicBezTo>
                  <a:cubicBezTo>
                    <a:pt x="1915030" y="1439303"/>
                    <a:pt x="1910446" y="1441202"/>
                    <a:pt x="1905667" y="1441202"/>
                  </a:cubicBezTo>
                  <a:lnTo>
                    <a:pt x="18019" y="1441202"/>
                  </a:lnTo>
                  <a:cubicBezTo>
                    <a:pt x="13240" y="1441202"/>
                    <a:pt x="8657" y="1439303"/>
                    <a:pt x="5278" y="1435924"/>
                  </a:cubicBezTo>
                  <a:cubicBezTo>
                    <a:pt x="1898" y="1432545"/>
                    <a:pt x="0" y="1427961"/>
                    <a:pt x="0" y="142318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23687" cy="148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09888" y="2408769"/>
            <a:ext cx="7303998" cy="5472062"/>
            <a:chOff x="0" y="0"/>
            <a:chExt cx="1923687" cy="14412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3687" cy="1441202"/>
            </a:xfrm>
            <a:custGeom>
              <a:avLst/>
              <a:gdLst/>
              <a:ahLst/>
              <a:cxnLst/>
              <a:rect r="r" b="b" t="t" l="l"/>
              <a:pathLst>
                <a:path h="1441202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1423182"/>
                  </a:lnTo>
                  <a:cubicBezTo>
                    <a:pt x="1923687" y="1427961"/>
                    <a:pt x="1921788" y="1432545"/>
                    <a:pt x="1918409" y="1435924"/>
                  </a:cubicBezTo>
                  <a:cubicBezTo>
                    <a:pt x="1915030" y="1439303"/>
                    <a:pt x="1910446" y="1441202"/>
                    <a:pt x="1905667" y="1441202"/>
                  </a:cubicBezTo>
                  <a:lnTo>
                    <a:pt x="18019" y="1441202"/>
                  </a:lnTo>
                  <a:cubicBezTo>
                    <a:pt x="13240" y="1441202"/>
                    <a:pt x="8657" y="1439303"/>
                    <a:pt x="5278" y="1435924"/>
                  </a:cubicBezTo>
                  <a:cubicBezTo>
                    <a:pt x="1898" y="1432545"/>
                    <a:pt x="0" y="1427961"/>
                    <a:pt x="0" y="142318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23687" cy="148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71625" y="2989776"/>
            <a:ext cx="538810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4B8B0B"/>
                </a:solidFill>
                <a:latin typeface="DM Sans Bold"/>
                <a:ea typeface="DM Sans Bold"/>
                <a:cs typeface="DM Sans Bold"/>
                <a:sym typeface="DM Sans Bold"/>
              </a:rPr>
              <a:t>Мета </a:t>
            </a:r>
            <a:r>
              <a:rPr lang="en-US" b="true" sz="3200">
                <a:solidFill>
                  <a:srgbClr val="4B8B0B"/>
                </a:solidFill>
                <a:latin typeface="DM Sans Bold"/>
                <a:ea typeface="DM Sans Bold"/>
                <a:cs typeface="DM Sans Bold"/>
                <a:sym typeface="DM Sans Bold"/>
              </a:rPr>
              <a:t>проєкту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71625" y="3903063"/>
            <a:ext cx="6381606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Розробка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надійної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високопродуктивної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та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захищеної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серверної архітектури для гри «Alias», що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обробляє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ігрову логіку,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зберігає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надає гнучке управління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даними і забезпечує миттєву синхронізацію між гравцями.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871084" y="2989776"/>
            <a:ext cx="538810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4B8B0B"/>
                </a:solidFill>
                <a:latin typeface="DM Sans Bold"/>
                <a:ea typeface="DM Sans Bold"/>
                <a:cs typeface="DM Sans Bold"/>
                <a:sym typeface="DM Sans Bold"/>
              </a:rPr>
              <a:t>Актуальні</a:t>
            </a:r>
            <a:r>
              <a:rPr lang="en-US" b="true" sz="3200">
                <a:solidFill>
                  <a:srgbClr val="4B8B0B"/>
                </a:solidFill>
                <a:latin typeface="DM Sans Bold"/>
                <a:ea typeface="DM Sans Bold"/>
                <a:cs typeface="DM Sans Bold"/>
                <a:sym typeface="DM Sans Bold"/>
              </a:rPr>
              <a:t>сть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71084" y="3903063"/>
            <a:ext cx="6381606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учасний ринок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потребує відкритих систем для творчості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На відміну від закритих аналогів, наша платформа дозволяє користувачам створювати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унікальний ігровий досвід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через власні набори карток та мап у реальному часі.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114" y="1028700"/>
            <a:ext cx="4705912" cy="740034"/>
            <a:chOff x="0" y="0"/>
            <a:chExt cx="1239417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9417" cy="194906"/>
            </a:xfrm>
            <a:custGeom>
              <a:avLst/>
              <a:gdLst/>
              <a:ahLst/>
              <a:cxnLst/>
              <a:rect r="r" b="b" t="t" l="l"/>
              <a:pathLst>
                <a:path h="194906" w="1239417">
                  <a:moveTo>
                    <a:pt x="27968" y="0"/>
                  </a:moveTo>
                  <a:lnTo>
                    <a:pt x="1211450" y="0"/>
                  </a:lnTo>
                  <a:cubicBezTo>
                    <a:pt x="1218867" y="0"/>
                    <a:pt x="1225981" y="2947"/>
                    <a:pt x="1231226" y="8191"/>
                  </a:cubicBezTo>
                  <a:cubicBezTo>
                    <a:pt x="1236471" y="13436"/>
                    <a:pt x="1239417" y="20550"/>
                    <a:pt x="1239417" y="27968"/>
                  </a:cubicBezTo>
                  <a:lnTo>
                    <a:pt x="1239417" y="166939"/>
                  </a:lnTo>
                  <a:cubicBezTo>
                    <a:pt x="1239417" y="174356"/>
                    <a:pt x="1236471" y="181470"/>
                    <a:pt x="1231226" y="186715"/>
                  </a:cubicBezTo>
                  <a:cubicBezTo>
                    <a:pt x="1225981" y="191959"/>
                    <a:pt x="1218867" y="194906"/>
                    <a:pt x="1211450" y="194906"/>
                  </a:cubicBezTo>
                  <a:lnTo>
                    <a:pt x="27968" y="194906"/>
                  </a:lnTo>
                  <a:cubicBezTo>
                    <a:pt x="20550" y="194906"/>
                    <a:pt x="13436" y="191959"/>
                    <a:pt x="8191" y="186715"/>
                  </a:cubicBezTo>
                  <a:cubicBezTo>
                    <a:pt x="2947" y="181470"/>
                    <a:pt x="0" y="174356"/>
                    <a:pt x="0" y="166939"/>
                  </a:cubicBezTo>
                  <a:lnTo>
                    <a:pt x="0" y="27968"/>
                  </a:lnTo>
                  <a:cubicBezTo>
                    <a:pt x="0" y="20550"/>
                    <a:pt x="2947" y="13436"/>
                    <a:pt x="8191" y="8191"/>
                  </a:cubicBezTo>
                  <a:cubicBezTo>
                    <a:pt x="13436" y="2947"/>
                    <a:pt x="20550" y="0"/>
                    <a:pt x="27968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39417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18734" y="1155512"/>
            <a:ext cx="550649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Аналіз існуючих рішень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4114" y="2186162"/>
            <a:ext cx="1487442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Досліджені</a:t>
            </a: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конкуренти: </a:t>
            </a: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BestSiteEver Alias, Skribbl.io, Codenames Online, Gartic.io,</a:t>
            </a: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SIGame.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74114" y="3063097"/>
            <a:ext cx="7303998" cy="2191316"/>
            <a:chOff x="0" y="0"/>
            <a:chExt cx="1923687" cy="577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3687" cy="577137"/>
            </a:xfrm>
            <a:custGeom>
              <a:avLst/>
              <a:gdLst/>
              <a:ahLst/>
              <a:cxnLst/>
              <a:rect r="r" b="b" t="t" l="l"/>
              <a:pathLst>
                <a:path h="577137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559118"/>
                  </a:lnTo>
                  <a:cubicBezTo>
                    <a:pt x="1923687" y="563897"/>
                    <a:pt x="1921788" y="568480"/>
                    <a:pt x="1918409" y="571859"/>
                  </a:cubicBezTo>
                  <a:cubicBezTo>
                    <a:pt x="1915030" y="575238"/>
                    <a:pt x="1910446" y="577137"/>
                    <a:pt x="1905667" y="577137"/>
                  </a:cubicBezTo>
                  <a:lnTo>
                    <a:pt x="18019" y="577137"/>
                  </a:lnTo>
                  <a:cubicBezTo>
                    <a:pt x="13240" y="577137"/>
                    <a:pt x="8657" y="575238"/>
                    <a:pt x="5278" y="571859"/>
                  </a:cubicBezTo>
                  <a:cubicBezTo>
                    <a:pt x="1898" y="568480"/>
                    <a:pt x="0" y="563897"/>
                    <a:pt x="0" y="559118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923687" cy="624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09888" y="3064138"/>
            <a:ext cx="7303998" cy="2191316"/>
            <a:chOff x="0" y="0"/>
            <a:chExt cx="1923687" cy="5771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3687" cy="577137"/>
            </a:xfrm>
            <a:custGeom>
              <a:avLst/>
              <a:gdLst/>
              <a:ahLst/>
              <a:cxnLst/>
              <a:rect r="r" b="b" t="t" l="l"/>
              <a:pathLst>
                <a:path h="577137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559118"/>
                  </a:lnTo>
                  <a:cubicBezTo>
                    <a:pt x="1923687" y="563897"/>
                    <a:pt x="1921788" y="568480"/>
                    <a:pt x="1918409" y="571859"/>
                  </a:cubicBezTo>
                  <a:cubicBezTo>
                    <a:pt x="1915030" y="575238"/>
                    <a:pt x="1910446" y="577137"/>
                    <a:pt x="1905667" y="577137"/>
                  </a:cubicBezTo>
                  <a:lnTo>
                    <a:pt x="18019" y="577137"/>
                  </a:lnTo>
                  <a:cubicBezTo>
                    <a:pt x="13240" y="577137"/>
                    <a:pt x="8657" y="575238"/>
                    <a:pt x="5278" y="571859"/>
                  </a:cubicBezTo>
                  <a:cubicBezTo>
                    <a:pt x="1898" y="568480"/>
                    <a:pt x="0" y="563897"/>
                    <a:pt x="0" y="559118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23687" cy="624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4114" y="5797728"/>
            <a:ext cx="7303998" cy="2650294"/>
            <a:chOff x="0" y="0"/>
            <a:chExt cx="1923687" cy="6980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3687" cy="698020"/>
            </a:xfrm>
            <a:custGeom>
              <a:avLst/>
              <a:gdLst/>
              <a:ahLst/>
              <a:cxnLst/>
              <a:rect r="r" b="b" t="t" l="l"/>
              <a:pathLst>
                <a:path h="698020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680001"/>
                  </a:lnTo>
                  <a:cubicBezTo>
                    <a:pt x="1923687" y="684780"/>
                    <a:pt x="1921788" y="689363"/>
                    <a:pt x="1918409" y="692742"/>
                  </a:cubicBezTo>
                  <a:cubicBezTo>
                    <a:pt x="1915030" y="696121"/>
                    <a:pt x="1910446" y="698020"/>
                    <a:pt x="1905667" y="698020"/>
                  </a:cubicBezTo>
                  <a:lnTo>
                    <a:pt x="18019" y="698020"/>
                  </a:lnTo>
                  <a:cubicBezTo>
                    <a:pt x="13240" y="698020"/>
                    <a:pt x="8657" y="696121"/>
                    <a:pt x="5278" y="692742"/>
                  </a:cubicBezTo>
                  <a:cubicBezTo>
                    <a:pt x="1898" y="689363"/>
                    <a:pt x="0" y="684780"/>
                    <a:pt x="0" y="680001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23687" cy="74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09888" y="5798770"/>
            <a:ext cx="7303998" cy="2649253"/>
            <a:chOff x="0" y="0"/>
            <a:chExt cx="1923687" cy="6977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3687" cy="697746"/>
            </a:xfrm>
            <a:custGeom>
              <a:avLst/>
              <a:gdLst/>
              <a:ahLst/>
              <a:cxnLst/>
              <a:rect r="r" b="b" t="t" l="l"/>
              <a:pathLst>
                <a:path h="697746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679726"/>
                  </a:lnTo>
                  <a:cubicBezTo>
                    <a:pt x="1923687" y="684505"/>
                    <a:pt x="1921788" y="689089"/>
                    <a:pt x="1918409" y="692468"/>
                  </a:cubicBezTo>
                  <a:cubicBezTo>
                    <a:pt x="1915030" y="695847"/>
                    <a:pt x="1910446" y="697746"/>
                    <a:pt x="1905667" y="697746"/>
                  </a:cubicBezTo>
                  <a:lnTo>
                    <a:pt x="18019" y="697746"/>
                  </a:lnTo>
                  <a:cubicBezTo>
                    <a:pt x="13240" y="697746"/>
                    <a:pt x="8657" y="695847"/>
                    <a:pt x="5278" y="692468"/>
                  </a:cubicBezTo>
                  <a:cubicBezTo>
                    <a:pt x="1898" y="689089"/>
                    <a:pt x="0" y="684505"/>
                    <a:pt x="0" y="679726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23687" cy="745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951409" y="3292691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Локальні додатки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51409" y="4028790"/>
            <a:ext cx="6718264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Обмежені грою на одному пристрої поруч, що унеможливлює дистанційну взаємодію.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02755" y="3292691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Тимчасові сесії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2755" y="4028790"/>
            <a:ext cx="6718264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Ігровий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прогрес та дані користувачів зникають одразу після завершення раунду.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51409" y="6085371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Закриті системи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51409" y="6821470"/>
            <a:ext cx="6718264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Не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можливість додати власні слова або правила — користувач обмежений базою розробників.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02755" y="6085371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Складна кастомізація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02755" y="6821470"/>
            <a:ext cx="6718264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Незручні інструменти, що вимагають сторонніх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програм або мають занадто обмежений функціонал.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6275" y="1333992"/>
            <a:ext cx="5885613" cy="740034"/>
            <a:chOff x="0" y="0"/>
            <a:chExt cx="1550120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0120" cy="194906"/>
            </a:xfrm>
            <a:custGeom>
              <a:avLst/>
              <a:gdLst/>
              <a:ahLst/>
              <a:cxnLst/>
              <a:rect r="r" b="b" t="t" l="l"/>
              <a:pathLst>
                <a:path h="194906" w="1550120">
                  <a:moveTo>
                    <a:pt x="22362" y="0"/>
                  </a:moveTo>
                  <a:lnTo>
                    <a:pt x="1527758" y="0"/>
                  </a:lnTo>
                  <a:cubicBezTo>
                    <a:pt x="1540109" y="0"/>
                    <a:pt x="1550120" y="10012"/>
                    <a:pt x="1550120" y="22362"/>
                  </a:cubicBezTo>
                  <a:lnTo>
                    <a:pt x="1550120" y="172544"/>
                  </a:lnTo>
                  <a:cubicBezTo>
                    <a:pt x="1550120" y="184894"/>
                    <a:pt x="1540109" y="194906"/>
                    <a:pt x="1527758" y="194906"/>
                  </a:cubicBezTo>
                  <a:lnTo>
                    <a:pt x="22362" y="194906"/>
                  </a:lnTo>
                  <a:cubicBezTo>
                    <a:pt x="10012" y="194906"/>
                    <a:pt x="0" y="184894"/>
                    <a:pt x="0" y="172544"/>
                  </a:cubicBezTo>
                  <a:lnTo>
                    <a:pt x="0" y="22362"/>
                  </a:lnTo>
                  <a:cubicBezTo>
                    <a:pt x="0" y="10012"/>
                    <a:pt x="10012" y="0"/>
                    <a:pt x="22362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50120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6275" y="3215475"/>
            <a:ext cx="5885613" cy="2739864"/>
            <a:chOff x="0" y="0"/>
            <a:chExt cx="1550120" cy="7216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0120" cy="721610"/>
            </a:xfrm>
            <a:custGeom>
              <a:avLst/>
              <a:gdLst/>
              <a:ahLst/>
              <a:cxnLst/>
              <a:rect r="r" b="b" t="t" l="l"/>
              <a:pathLst>
                <a:path h="721610" w="1550120">
                  <a:moveTo>
                    <a:pt x="22362" y="0"/>
                  </a:moveTo>
                  <a:lnTo>
                    <a:pt x="1527758" y="0"/>
                  </a:lnTo>
                  <a:cubicBezTo>
                    <a:pt x="1540109" y="0"/>
                    <a:pt x="1550120" y="10012"/>
                    <a:pt x="1550120" y="22362"/>
                  </a:cubicBezTo>
                  <a:lnTo>
                    <a:pt x="1550120" y="699249"/>
                  </a:lnTo>
                  <a:cubicBezTo>
                    <a:pt x="1550120" y="711599"/>
                    <a:pt x="1540109" y="721610"/>
                    <a:pt x="1527758" y="721610"/>
                  </a:cubicBezTo>
                  <a:lnTo>
                    <a:pt x="22362" y="721610"/>
                  </a:lnTo>
                  <a:cubicBezTo>
                    <a:pt x="10012" y="721610"/>
                    <a:pt x="0" y="711599"/>
                    <a:pt x="0" y="699249"/>
                  </a:cubicBezTo>
                  <a:lnTo>
                    <a:pt x="0" y="22362"/>
                  </a:lnTo>
                  <a:cubicBezTo>
                    <a:pt x="0" y="10012"/>
                    <a:pt x="10012" y="0"/>
                    <a:pt x="2236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50120" cy="769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49278" y="3499018"/>
            <a:ext cx="595967" cy="472559"/>
          </a:xfrm>
          <a:custGeom>
            <a:avLst/>
            <a:gdLst/>
            <a:ahLst/>
            <a:cxnLst/>
            <a:rect r="r" b="b" t="t" l="l"/>
            <a:pathLst>
              <a:path h="472559" w="595967">
                <a:moveTo>
                  <a:pt x="0" y="0"/>
                </a:moveTo>
                <a:lnTo>
                  <a:pt x="595967" y="0"/>
                </a:lnTo>
                <a:lnTo>
                  <a:pt x="595967" y="472560"/>
                </a:lnTo>
                <a:lnTo>
                  <a:pt x="0" y="4725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58" t="0" r="-818413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156482" y="3215475"/>
            <a:ext cx="5060452" cy="2700667"/>
            <a:chOff x="0" y="0"/>
            <a:chExt cx="1332794" cy="7112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2794" cy="711287"/>
            </a:xfrm>
            <a:custGeom>
              <a:avLst/>
              <a:gdLst/>
              <a:ahLst/>
              <a:cxnLst/>
              <a:rect r="r" b="b" t="t" l="l"/>
              <a:pathLst>
                <a:path h="711287" w="1332794">
                  <a:moveTo>
                    <a:pt x="26008" y="0"/>
                  </a:moveTo>
                  <a:lnTo>
                    <a:pt x="1306786" y="0"/>
                  </a:lnTo>
                  <a:cubicBezTo>
                    <a:pt x="1321150" y="0"/>
                    <a:pt x="1332794" y="11644"/>
                    <a:pt x="1332794" y="26008"/>
                  </a:cubicBezTo>
                  <a:lnTo>
                    <a:pt x="1332794" y="685279"/>
                  </a:lnTo>
                  <a:cubicBezTo>
                    <a:pt x="1332794" y="692177"/>
                    <a:pt x="1330054" y="698792"/>
                    <a:pt x="1325176" y="703669"/>
                  </a:cubicBezTo>
                  <a:cubicBezTo>
                    <a:pt x="1320299" y="708547"/>
                    <a:pt x="1313684" y="711287"/>
                    <a:pt x="1306786" y="711287"/>
                  </a:cubicBezTo>
                  <a:lnTo>
                    <a:pt x="26008" y="711287"/>
                  </a:lnTo>
                  <a:cubicBezTo>
                    <a:pt x="11644" y="711287"/>
                    <a:pt x="0" y="699643"/>
                    <a:pt x="0" y="685279"/>
                  </a:cubicBezTo>
                  <a:lnTo>
                    <a:pt x="0" y="26008"/>
                  </a:lnTo>
                  <a:cubicBezTo>
                    <a:pt x="0" y="19110"/>
                    <a:pt x="2740" y="12495"/>
                    <a:pt x="7618" y="7618"/>
                  </a:cubicBezTo>
                  <a:cubicBezTo>
                    <a:pt x="12495" y="2740"/>
                    <a:pt x="19110" y="0"/>
                    <a:pt x="2600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32794" cy="758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469485" y="3516574"/>
            <a:ext cx="623208" cy="437449"/>
          </a:xfrm>
          <a:custGeom>
            <a:avLst/>
            <a:gdLst/>
            <a:ahLst/>
            <a:cxnLst/>
            <a:rect r="r" b="b" t="t" l="l"/>
            <a:pathLst>
              <a:path h="437449" w="623208">
                <a:moveTo>
                  <a:pt x="0" y="0"/>
                </a:moveTo>
                <a:lnTo>
                  <a:pt x="623208" y="0"/>
                </a:lnTo>
                <a:lnTo>
                  <a:pt x="623208" y="437449"/>
                </a:lnTo>
                <a:lnTo>
                  <a:pt x="0" y="4374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19010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350284" y="3215475"/>
            <a:ext cx="4801441" cy="2739864"/>
            <a:chOff x="0" y="0"/>
            <a:chExt cx="1264577" cy="7216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4577" cy="721610"/>
            </a:xfrm>
            <a:custGeom>
              <a:avLst/>
              <a:gdLst/>
              <a:ahLst/>
              <a:cxnLst/>
              <a:rect r="r" b="b" t="t" l="l"/>
              <a:pathLst>
                <a:path h="721610" w="1264577">
                  <a:moveTo>
                    <a:pt x="27411" y="0"/>
                  </a:moveTo>
                  <a:lnTo>
                    <a:pt x="1237166" y="0"/>
                  </a:lnTo>
                  <a:cubicBezTo>
                    <a:pt x="1244436" y="0"/>
                    <a:pt x="1251408" y="2888"/>
                    <a:pt x="1256549" y="8029"/>
                  </a:cubicBezTo>
                  <a:cubicBezTo>
                    <a:pt x="1261689" y="13169"/>
                    <a:pt x="1264577" y="20141"/>
                    <a:pt x="1264577" y="27411"/>
                  </a:cubicBezTo>
                  <a:lnTo>
                    <a:pt x="1264577" y="694199"/>
                  </a:lnTo>
                  <a:cubicBezTo>
                    <a:pt x="1264577" y="709338"/>
                    <a:pt x="1252305" y="721610"/>
                    <a:pt x="1237166" y="721610"/>
                  </a:cubicBezTo>
                  <a:lnTo>
                    <a:pt x="27411" y="721610"/>
                  </a:lnTo>
                  <a:cubicBezTo>
                    <a:pt x="20141" y="721610"/>
                    <a:pt x="13169" y="718722"/>
                    <a:pt x="8029" y="713582"/>
                  </a:cubicBezTo>
                  <a:cubicBezTo>
                    <a:pt x="2888" y="708441"/>
                    <a:pt x="0" y="701469"/>
                    <a:pt x="0" y="694199"/>
                  </a:cubicBezTo>
                  <a:lnTo>
                    <a:pt x="0" y="27411"/>
                  </a:lnTo>
                  <a:cubicBezTo>
                    <a:pt x="0" y="12272"/>
                    <a:pt x="12272" y="0"/>
                    <a:pt x="274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64577" cy="769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663287" y="3427461"/>
            <a:ext cx="696126" cy="526562"/>
          </a:xfrm>
          <a:custGeom>
            <a:avLst/>
            <a:gdLst/>
            <a:ahLst/>
            <a:cxnLst/>
            <a:rect r="r" b="b" t="t" l="l"/>
            <a:pathLst>
              <a:path h="526562" w="696126">
                <a:moveTo>
                  <a:pt x="0" y="0"/>
                </a:moveTo>
                <a:lnTo>
                  <a:pt x="696127" y="0"/>
                </a:lnTo>
                <a:lnTo>
                  <a:pt x="696127" y="526562"/>
                </a:lnTo>
                <a:lnTo>
                  <a:pt x="0" y="5265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779009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572523" y="6135217"/>
            <a:ext cx="6839131" cy="2446474"/>
            <a:chOff x="0" y="0"/>
            <a:chExt cx="1801253" cy="6443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1253" cy="644339"/>
            </a:xfrm>
            <a:custGeom>
              <a:avLst/>
              <a:gdLst/>
              <a:ahLst/>
              <a:cxnLst/>
              <a:rect r="r" b="b" t="t" l="l"/>
              <a:pathLst>
                <a:path h="644339" w="1801253">
                  <a:moveTo>
                    <a:pt x="19244" y="0"/>
                  </a:moveTo>
                  <a:lnTo>
                    <a:pt x="1782009" y="0"/>
                  </a:lnTo>
                  <a:cubicBezTo>
                    <a:pt x="1787112" y="0"/>
                    <a:pt x="1792007" y="2027"/>
                    <a:pt x="1795616" y="5636"/>
                  </a:cubicBezTo>
                  <a:cubicBezTo>
                    <a:pt x="1799225" y="9245"/>
                    <a:pt x="1801253" y="14140"/>
                    <a:pt x="1801253" y="19244"/>
                  </a:cubicBezTo>
                  <a:lnTo>
                    <a:pt x="1801253" y="625095"/>
                  </a:lnTo>
                  <a:cubicBezTo>
                    <a:pt x="1801253" y="630199"/>
                    <a:pt x="1799225" y="635093"/>
                    <a:pt x="1795616" y="638702"/>
                  </a:cubicBezTo>
                  <a:cubicBezTo>
                    <a:pt x="1792007" y="642311"/>
                    <a:pt x="1787112" y="644339"/>
                    <a:pt x="1782009" y="644339"/>
                  </a:cubicBezTo>
                  <a:lnTo>
                    <a:pt x="19244" y="644339"/>
                  </a:lnTo>
                  <a:cubicBezTo>
                    <a:pt x="14140" y="644339"/>
                    <a:pt x="9245" y="642311"/>
                    <a:pt x="5636" y="638702"/>
                  </a:cubicBezTo>
                  <a:cubicBezTo>
                    <a:pt x="2027" y="635093"/>
                    <a:pt x="0" y="630199"/>
                    <a:pt x="0" y="625095"/>
                  </a:cubicBezTo>
                  <a:lnTo>
                    <a:pt x="0" y="19244"/>
                  </a:lnTo>
                  <a:cubicBezTo>
                    <a:pt x="0" y="14140"/>
                    <a:pt x="2027" y="9245"/>
                    <a:pt x="5636" y="5636"/>
                  </a:cubicBezTo>
                  <a:cubicBezTo>
                    <a:pt x="9245" y="2027"/>
                    <a:pt x="14140" y="0"/>
                    <a:pt x="1924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801253" cy="691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885526" y="6391641"/>
            <a:ext cx="544269" cy="482474"/>
          </a:xfrm>
          <a:custGeom>
            <a:avLst/>
            <a:gdLst/>
            <a:ahLst/>
            <a:cxnLst/>
            <a:rect r="r" b="b" t="t" l="l"/>
            <a:pathLst>
              <a:path h="482474" w="544269">
                <a:moveTo>
                  <a:pt x="0" y="0"/>
                </a:moveTo>
                <a:lnTo>
                  <a:pt x="544269" y="0"/>
                </a:lnTo>
                <a:lnTo>
                  <a:pt x="544269" y="482474"/>
                </a:lnTo>
                <a:lnTo>
                  <a:pt x="0" y="4824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930131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600615" y="6135217"/>
            <a:ext cx="7167455" cy="2446474"/>
            <a:chOff x="0" y="0"/>
            <a:chExt cx="1887725" cy="6443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87725" cy="644339"/>
            </a:xfrm>
            <a:custGeom>
              <a:avLst/>
              <a:gdLst/>
              <a:ahLst/>
              <a:cxnLst/>
              <a:rect r="r" b="b" t="t" l="l"/>
              <a:pathLst>
                <a:path h="644339" w="1887725">
                  <a:moveTo>
                    <a:pt x="18363" y="0"/>
                  </a:moveTo>
                  <a:lnTo>
                    <a:pt x="1869362" y="0"/>
                  </a:lnTo>
                  <a:cubicBezTo>
                    <a:pt x="1874232" y="0"/>
                    <a:pt x="1878903" y="1935"/>
                    <a:pt x="1882347" y="5378"/>
                  </a:cubicBezTo>
                  <a:cubicBezTo>
                    <a:pt x="1885790" y="8822"/>
                    <a:pt x="1887725" y="13492"/>
                    <a:pt x="1887725" y="18363"/>
                  </a:cubicBezTo>
                  <a:lnTo>
                    <a:pt x="1887725" y="625976"/>
                  </a:lnTo>
                  <a:cubicBezTo>
                    <a:pt x="1887725" y="636118"/>
                    <a:pt x="1879504" y="644339"/>
                    <a:pt x="1869362" y="644339"/>
                  </a:cubicBezTo>
                  <a:lnTo>
                    <a:pt x="18363" y="644339"/>
                  </a:lnTo>
                  <a:cubicBezTo>
                    <a:pt x="13492" y="644339"/>
                    <a:pt x="8822" y="642404"/>
                    <a:pt x="5378" y="638961"/>
                  </a:cubicBezTo>
                  <a:cubicBezTo>
                    <a:pt x="1935" y="635517"/>
                    <a:pt x="0" y="630846"/>
                    <a:pt x="0" y="625976"/>
                  </a:cubicBezTo>
                  <a:lnTo>
                    <a:pt x="0" y="18363"/>
                  </a:lnTo>
                  <a:cubicBezTo>
                    <a:pt x="0" y="13492"/>
                    <a:pt x="1935" y="8822"/>
                    <a:pt x="5378" y="5378"/>
                  </a:cubicBezTo>
                  <a:cubicBezTo>
                    <a:pt x="8822" y="1935"/>
                    <a:pt x="13492" y="0"/>
                    <a:pt x="1836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887725" cy="691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942458" y="6391641"/>
            <a:ext cx="626663" cy="497661"/>
          </a:xfrm>
          <a:custGeom>
            <a:avLst/>
            <a:gdLst/>
            <a:ahLst/>
            <a:cxnLst/>
            <a:rect r="r" b="b" t="t" l="l"/>
            <a:pathLst>
              <a:path h="497661" w="626663">
                <a:moveTo>
                  <a:pt x="0" y="0"/>
                </a:moveTo>
                <a:lnTo>
                  <a:pt x="626663" y="0"/>
                </a:lnTo>
                <a:lnTo>
                  <a:pt x="626663" y="497661"/>
                </a:lnTo>
                <a:lnTo>
                  <a:pt x="0" y="4976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359584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80895" y="1460804"/>
            <a:ext cx="6166623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Концепція та системний огляд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95931" y="3490823"/>
            <a:ext cx="4336550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Інструменти кастомізації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2903" y="2419185"/>
            <a:ext cx="14196715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Результати усунення недоліків конкурентів, які отримує користувач завдяки нашим рішенням: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9278" y="4076547"/>
            <a:ext cx="5305476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Інструменти для створення публічних або приватних ігрових просторів та можливість обирати й  грати в авторських сценаріях.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16138" y="3490823"/>
            <a:ext cx="4336550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</a:t>
            </a:r>
            <a:r>
              <a:rPr lang="en-US" b="true" sz="2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оціальна взаємодія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69485" y="4076547"/>
            <a:ext cx="4197342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Кома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ндні чати, кастомні аватарки, підтримка гіфок та можливість оцінювати й зберігати чужий контент.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09941" y="3490823"/>
            <a:ext cx="350841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Ун</a:t>
            </a:r>
            <a:r>
              <a:rPr lang="en-US" b="true" sz="2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ікальний дизайн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63287" y="4076547"/>
            <a:ext cx="4123995" cy="15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Унікаль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ний дизайн з використанням тривимірних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мап з різними візуальними темами.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59507" y="6388403"/>
            <a:ext cx="4992961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Розширюва</a:t>
            </a:r>
            <a:r>
              <a:rPr lang="en-US" b="true" sz="2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ність та гнучкість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85526" y="6996290"/>
            <a:ext cx="6316108" cy="11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ідтримка різних форматів карток (від класики до тестів і квізів) та легке додавання нових ігрових механік.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87599" y="6388403"/>
            <a:ext cx="4992961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Живий </a:t>
            </a:r>
            <a:r>
              <a:rPr lang="en-US" sz="25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9913618" y="6996290"/>
            <a:ext cx="6854452" cy="11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Ш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видкий, адаптивний та стабільний інтерфейс, який працює без затримок навіть за великої кількості гравців онлайн.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2903" y="1333992"/>
            <a:ext cx="6206975" cy="740034"/>
            <a:chOff x="0" y="0"/>
            <a:chExt cx="1634759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4759" cy="194906"/>
            </a:xfrm>
            <a:custGeom>
              <a:avLst/>
              <a:gdLst/>
              <a:ahLst/>
              <a:cxnLst/>
              <a:rect r="r" b="b" t="t" l="l"/>
              <a:pathLst>
                <a:path h="194906" w="1634759">
                  <a:moveTo>
                    <a:pt x="21204" y="0"/>
                  </a:moveTo>
                  <a:lnTo>
                    <a:pt x="1613555" y="0"/>
                  </a:lnTo>
                  <a:cubicBezTo>
                    <a:pt x="1625265" y="0"/>
                    <a:pt x="1634759" y="9493"/>
                    <a:pt x="1634759" y="21204"/>
                  </a:cubicBezTo>
                  <a:lnTo>
                    <a:pt x="1634759" y="173702"/>
                  </a:lnTo>
                  <a:cubicBezTo>
                    <a:pt x="1634759" y="185413"/>
                    <a:pt x="1625265" y="194906"/>
                    <a:pt x="1613555" y="194906"/>
                  </a:cubicBezTo>
                  <a:lnTo>
                    <a:pt x="21204" y="194906"/>
                  </a:lnTo>
                  <a:cubicBezTo>
                    <a:pt x="9493" y="194906"/>
                    <a:pt x="0" y="185413"/>
                    <a:pt x="0" y="173702"/>
                  </a:cubicBezTo>
                  <a:lnTo>
                    <a:pt x="0" y="21204"/>
                  </a:lnTo>
                  <a:cubicBezTo>
                    <a:pt x="0" y="9493"/>
                    <a:pt x="9493" y="0"/>
                    <a:pt x="21204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34759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2903" y="3291838"/>
            <a:ext cx="462358" cy="572443"/>
          </a:xfrm>
          <a:custGeom>
            <a:avLst/>
            <a:gdLst/>
            <a:ahLst/>
            <a:cxnLst/>
            <a:rect r="r" b="b" t="t" l="l"/>
            <a:pathLst>
              <a:path h="572443" w="462358">
                <a:moveTo>
                  <a:pt x="0" y="0"/>
                </a:moveTo>
                <a:lnTo>
                  <a:pt x="462358" y="0"/>
                </a:lnTo>
                <a:lnTo>
                  <a:pt x="462358" y="572443"/>
                </a:lnTo>
                <a:lnTo>
                  <a:pt x="0" y="5724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4242" y="4380663"/>
            <a:ext cx="586561" cy="508353"/>
          </a:xfrm>
          <a:custGeom>
            <a:avLst/>
            <a:gdLst/>
            <a:ahLst/>
            <a:cxnLst/>
            <a:rect r="r" b="b" t="t" l="l"/>
            <a:pathLst>
              <a:path h="508353" w="586561">
                <a:moveTo>
                  <a:pt x="0" y="0"/>
                </a:moveTo>
                <a:lnTo>
                  <a:pt x="586561" y="0"/>
                </a:lnTo>
                <a:lnTo>
                  <a:pt x="586561" y="508353"/>
                </a:lnTo>
                <a:lnTo>
                  <a:pt x="0" y="5083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6275" y="5446863"/>
            <a:ext cx="662103" cy="573823"/>
          </a:xfrm>
          <a:custGeom>
            <a:avLst/>
            <a:gdLst/>
            <a:ahLst/>
            <a:cxnLst/>
            <a:rect r="r" b="b" t="t" l="l"/>
            <a:pathLst>
              <a:path h="573823" w="662103">
                <a:moveTo>
                  <a:pt x="0" y="0"/>
                </a:moveTo>
                <a:lnTo>
                  <a:pt x="662103" y="0"/>
                </a:lnTo>
                <a:lnTo>
                  <a:pt x="662103" y="573823"/>
                </a:lnTo>
                <a:lnTo>
                  <a:pt x="0" y="5738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5644" y="6535036"/>
            <a:ext cx="495160" cy="613055"/>
          </a:xfrm>
          <a:custGeom>
            <a:avLst/>
            <a:gdLst/>
            <a:ahLst/>
            <a:cxnLst/>
            <a:rect r="r" b="b" t="t" l="l"/>
            <a:pathLst>
              <a:path h="613055" w="495160">
                <a:moveTo>
                  <a:pt x="0" y="0"/>
                </a:moveTo>
                <a:lnTo>
                  <a:pt x="495159" y="0"/>
                </a:lnTo>
                <a:lnTo>
                  <a:pt x="495159" y="613055"/>
                </a:lnTo>
                <a:lnTo>
                  <a:pt x="0" y="6130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2903" y="7614816"/>
            <a:ext cx="572374" cy="551175"/>
          </a:xfrm>
          <a:custGeom>
            <a:avLst/>
            <a:gdLst/>
            <a:ahLst/>
            <a:cxnLst/>
            <a:rect r="r" b="b" t="t" l="l"/>
            <a:pathLst>
              <a:path h="551175" w="572374">
                <a:moveTo>
                  <a:pt x="0" y="0"/>
                </a:moveTo>
                <a:lnTo>
                  <a:pt x="572374" y="0"/>
                </a:lnTo>
                <a:lnTo>
                  <a:pt x="572374" y="551175"/>
                </a:lnTo>
                <a:lnTo>
                  <a:pt x="0" y="551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97523" y="1460804"/>
            <a:ext cx="6166623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Постановка задачі та результати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6275" y="2419185"/>
            <a:ext cx="7690148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ля досягнення мети виконано наступні завдання::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58670" y="3167850"/>
            <a:ext cx="14500232" cy="77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проєк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тування 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та 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реалізація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нормалізованої реляційної бази даних на основі 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PostgreSQL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збереження акаунтів та ієрархії контенту;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58670" y="4283544"/>
            <a:ext cx="13830556" cy="11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розробка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RESTful API з використанням асинхронного фреймворку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FastAPI 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для управління життєвим циклом контенту;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258670" y="5518828"/>
            <a:ext cx="14688443" cy="3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реалізація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підсистеми авторизації та контролю доступу на базі стандарту 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JWT 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та інтеграція 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Google OAuth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73904" y="6421012"/>
            <a:ext cx="13800088" cy="11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розробка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підсистеми синхронізації ігрового процесу в реальному часі за допомогою протоколу 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WebSocket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258670" y="7660532"/>
            <a:ext cx="14413905" cy="77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інтеграція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In-Memory сховища </a:t>
            </a:r>
            <a:r>
              <a:rPr lang="en-US" b="true" sz="2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Redis</a:t>
            </a:r>
            <a:r>
              <a:rPr lang="en-US" sz="2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транзакційного управління ефемерними даними ігрових сесій.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2189" y="1444415"/>
            <a:ext cx="3495676" cy="740034"/>
            <a:chOff x="0" y="0"/>
            <a:chExt cx="920672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0672" cy="194906"/>
            </a:xfrm>
            <a:custGeom>
              <a:avLst/>
              <a:gdLst/>
              <a:ahLst/>
              <a:cxnLst/>
              <a:rect r="r" b="b" t="t" l="l"/>
              <a:pathLst>
                <a:path h="194906" w="920672">
                  <a:moveTo>
                    <a:pt x="37650" y="0"/>
                  </a:moveTo>
                  <a:lnTo>
                    <a:pt x="883022" y="0"/>
                  </a:lnTo>
                  <a:cubicBezTo>
                    <a:pt x="893007" y="0"/>
                    <a:pt x="902584" y="3967"/>
                    <a:pt x="909645" y="11027"/>
                  </a:cubicBezTo>
                  <a:cubicBezTo>
                    <a:pt x="916705" y="18088"/>
                    <a:pt x="920672" y="27665"/>
                    <a:pt x="920672" y="37650"/>
                  </a:cubicBezTo>
                  <a:lnTo>
                    <a:pt x="920672" y="157256"/>
                  </a:lnTo>
                  <a:cubicBezTo>
                    <a:pt x="920672" y="178050"/>
                    <a:pt x="903815" y="194906"/>
                    <a:pt x="883022" y="194906"/>
                  </a:cubicBezTo>
                  <a:lnTo>
                    <a:pt x="37650" y="194906"/>
                  </a:lnTo>
                  <a:cubicBezTo>
                    <a:pt x="27665" y="194906"/>
                    <a:pt x="18088" y="190939"/>
                    <a:pt x="11027" y="183879"/>
                  </a:cubicBezTo>
                  <a:cubicBezTo>
                    <a:pt x="3967" y="176818"/>
                    <a:pt x="0" y="167241"/>
                    <a:pt x="0" y="157256"/>
                  </a:cubicBezTo>
                  <a:lnTo>
                    <a:pt x="0" y="37650"/>
                  </a:lnTo>
                  <a:cubicBezTo>
                    <a:pt x="0" y="27665"/>
                    <a:pt x="3967" y="18088"/>
                    <a:pt x="11027" y="11027"/>
                  </a:cubicBezTo>
                  <a:cubicBezTo>
                    <a:pt x="18088" y="3967"/>
                    <a:pt x="27665" y="0"/>
                    <a:pt x="37650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20672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20063" y="2649584"/>
            <a:ext cx="7303998" cy="2575499"/>
            <a:chOff x="0" y="0"/>
            <a:chExt cx="1923687" cy="678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3687" cy="678321"/>
            </a:xfrm>
            <a:custGeom>
              <a:avLst/>
              <a:gdLst/>
              <a:ahLst/>
              <a:cxnLst/>
              <a:rect r="r" b="b" t="t" l="l"/>
              <a:pathLst>
                <a:path h="678321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660302"/>
                  </a:lnTo>
                  <a:cubicBezTo>
                    <a:pt x="1923687" y="665080"/>
                    <a:pt x="1921788" y="669664"/>
                    <a:pt x="1918409" y="673043"/>
                  </a:cubicBezTo>
                  <a:cubicBezTo>
                    <a:pt x="1915030" y="676422"/>
                    <a:pt x="1910446" y="678321"/>
                    <a:pt x="1905667" y="678321"/>
                  </a:cubicBezTo>
                  <a:lnTo>
                    <a:pt x="18019" y="678321"/>
                  </a:lnTo>
                  <a:cubicBezTo>
                    <a:pt x="13240" y="678321"/>
                    <a:pt x="8657" y="676422"/>
                    <a:pt x="5278" y="673043"/>
                  </a:cubicBezTo>
                  <a:cubicBezTo>
                    <a:pt x="1898" y="669664"/>
                    <a:pt x="0" y="665080"/>
                    <a:pt x="0" y="66030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23687" cy="725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997358" y="2838640"/>
            <a:ext cx="687784" cy="636066"/>
          </a:xfrm>
          <a:custGeom>
            <a:avLst/>
            <a:gdLst/>
            <a:ahLst/>
            <a:cxnLst/>
            <a:rect r="r" b="b" t="t" l="l"/>
            <a:pathLst>
              <a:path h="636066" w="687784">
                <a:moveTo>
                  <a:pt x="0" y="0"/>
                </a:moveTo>
                <a:lnTo>
                  <a:pt x="687784" y="0"/>
                </a:lnTo>
                <a:lnTo>
                  <a:pt x="687784" y="636066"/>
                </a:lnTo>
                <a:lnTo>
                  <a:pt x="0" y="6360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397027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363939" y="2622955"/>
            <a:ext cx="7303998" cy="2575499"/>
            <a:chOff x="0" y="0"/>
            <a:chExt cx="1923687" cy="678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3687" cy="678321"/>
            </a:xfrm>
            <a:custGeom>
              <a:avLst/>
              <a:gdLst/>
              <a:ahLst/>
              <a:cxnLst/>
              <a:rect r="r" b="b" t="t" l="l"/>
              <a:pathLst>
                <a:path h="678321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660302"/>
                  </a:lnTo>
                  <a:cubicBezTo>
                    <a:pt x="1923687" y="665080"/>
                    <a:pt x="1921788" y="669664"/>
                    <a:pt x="1918409" y="673043"/>
                  </a:cubicBezTo>
                  <a:cubicBezTo>
                    <a:pt x="1915030" y="676422"/>
                    <a:pt x="1910446" y="678321"/>
                    <a:pt x="1905667" y="678321"/>
                  </a:cubicBezTo>
                  <a:lnTo>
                    <a:pt x="18019" y="678321"/>
                  </a:lnTo>
                  <a:cubicBezTo>
                    <a:pt x="13240" y="678321"/>
                    <a:pt x="8657" y="676422"/>
                    <a:pt x="5278" y="673043"/>
                  </a:cubicBezTo>
                  <a:cubicBezTo>
                    <a:pt x="1898" y="669664"/>
                    <a:pt x="0" y="665080"/>
                    <a:pt x="0" y="66030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23687" cy="725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20063" y="5574655"/>
            <a:ext cx="7303998" cy="2575499"/>
            <a:chOff x="0" y="0"/>
            <a:chExt cx="1923687" cy="6783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3687" cy="678321"/>
            </a:xfrm>
            <a:custGeom>
              <a:avLst/>
              <a:gdLst/>
              <a:ahLst/>
              <a:cxnLst/>
              <a:rect r="r" b="b" t="t" l="l"/>
              <a:pathLst>
                <a:path h="678321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660302"/>
                  </a:lnTo>
                  <a:cubicBezTo>
                    <a:pt x="1923687" y="665080"/>
                    <a:pt x="1921788" y="669664"/>
                    <a:pt x="1918409" y="673043"/>
                  </a:cubicBezTo>
                  <a:cubicBezTo>
                    <a:pt x="1915030" y="676422"/>
                    <a:pt x="1910446" y="678321"/>
                    <a:pt x="1905667" y="678321"/>
                  </a:cubicBezTo>
                  <a:lnTo>
                    <a:pt x="18019" y="678321"/>
                  </a:lnTo>
                  <a:cubicBezTo>
                    <a:pt x="13240" y="678321"/>
                    <a:pt x="8657" y="676422"/>
                    <a:pt x="5278" y="673043"/>
                  </a:cubicBezTo>
                  <a:cubicBezTo>
                    <a:pt x="1898" y="669664"/>
                    <a:pt x="0" y="665080"/>
                    <a:pt x="0" y="66030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23687" cy="725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63939" y="5548025"/>
            <a:ext cx="7303998" cy="2575499"/>
            <a:chOff x="0" y="0"/>
            <a:chExt cx="1923687" cy="6783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3687" cy="678321"/>
            </a:xfrm>
            <a:custGeom>
              <a:avLst/>
              <a:gdLst/>
              <a:ahLst/>
              <a:cxnLst/>
              <a:rect r="r" b="b" t="t" l="l"/>
              <a:pathLst>
                <a:path h="678321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660302"/>
                  </a:lnTo>
                  <a:cubicBezTo>
                    <a:pt x="1923687" y="665080"/>
                    <a:pt x="1921788" y="669664"/>
                    <a:pt x="1918409" y="673043"/>
                  </a:cubicBezTo>
                  <a:cubicBezTo>
                    <a:pt x="1915030" y="676422"/>
                    <a:pt x="1910446" y="678321"/>
                    <a:pt x="1905667" y="678321"/>
                  </a:cubicBezTo>
                  <a:lnTo>
                    <a:pt x="18019" y="678321"/>
                  </a:lnTo>
                  <a:cubicBezTo>
                    <a:pt x="13240" y="678321"/>
                    <a:pt x="8657" y="676422"/>
                    <a:pt x="5278" y="673043"/>
                  </a:cubicBezTo>
                  <a:cubicBezTo>
                    <a:pt x="1898" y="669664"/>
                    <a:pt x="0" y="665080"/>
                    <a:pt x="0" y="66030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23687" cy="725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741234" y="2859486"/>
            <a:ext cx="668357" cy="541115"/>
          </a:xfrm>
          <a:custGeom>
            <a:avLst/>
            <a:gdLst/>
            <a:ahLst/>
            <a:cxnLst/>
            <a:rect r="r" b="b" t="t" l="l"/>
            <a:pathLst>
              <a:path h="541115" w="668357">
                <a:moveTo>
                  <a:pt x="0" y="0"/>
                </a:moveTo>
                <a:lnTo>
                  <a:pt x="668357" y="0"/>
                </a:lnTo>
                <a:lnTo>
                  <a:pt x="668357" y="541116"/>
                </a:lnTo>
                <a:lnTo>
                  <a:pt x="0" y="541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210572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89220" y="5827682"/>
            <a:ext cx="695922" cy="508122"/>
          </a:xfrm>
          <a:custGeom>
            <a:avLst/>
            <a:gdLst/>
            <a:ahLst/>
            <a:cxnLst/>
            <a:rect r="r" b="b" t="t" l="l"/>
            <a:pathLst>
              <a:path h="508122" w="695922">
                <a:moveTo>
                  <a:pt x="0" y="0"/>
                </a:moveTo>
                <a:lnTo>
                  <a:pt x="695922" y="0"/>
                </a:lnTo>
                <a:lnTo>
                  <a:pt x="695922" y="508122"/>
                </a:lnTo>
                <a:lnTo>
                  <a:pt x="0" y="5081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081918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33020" y="5801422"/>
            <a:ext cx="676571" cy="474037"/>
          </a:xfrm>
          <a:custGeom>
            <a:avLst/>
            <a:gdLst/>
            <a:ahLst/>
            <a:cxnLst/>
            <a:rect r="r" b="b" t="t" l="l"/>
            <a:pathLst>
              <a:path h="474037" w="676571">
                <a:moveTo>
                  <a:pt x="0" y="0"/>
                </a:moveTo>
                <a:lnTo>
                  <a:pt x="676571" y="0"/>
                </a:lnTo>
                <a:lnTo>
                  <a:pt x="676571" y="474037"/>
                </a:lnTo>
                <a:lnTo>
                  <a:pt x="0" y="474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034171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16808" y="1571227"/>
            <a:ext cx="325105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Вибір технологій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24109" y="2879178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Мови та фреймворки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97358" y="3615277"/>
            <a:ext cx="6314852" cy="166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Python 3.12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та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FastAPI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сучасна основа для створення високопродуктивного та асинхронного серверу.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667984" y="2852549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Бази даних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41234" y="3588648"/>
            <a:ext cx="6314852" cy="166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PostgreSQL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(з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ORM SQLAlchemy) для надійних даних та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Redis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для миттєвих ігрових станів у пам'яті.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924109" y="5804248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Зовнішні сервіси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97358" y="6540348"/>
            <a:ext cx="6314852" cy="166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Cloudflare R2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медіа,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GIPHY API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чату та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Google OAuth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зручного та безпечного входу.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0667984" y="5777619"/>
            <a:ext cx="538810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DevOps інструменти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41234" y="6513718"/>
            <a:ext cx="6681590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Azure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App Service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для хмарного хостингу та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GitHub Actions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автоматизації процесів збірки та деплою.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9024" y="944305"/>
            <a:ext cx="9638537" cy="740034"/>
            <a:chOff x="0" y="0"/>
            <a:chExt cx="2538545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38545" cy="194906"/>
            </a:xfrm>
            <a:custGeom>
              <a:avLst/>
              <a:gdLst/>
              <a:ahLst/>
              <a:cxnLst/>
              <a:rect r="r" b="b" t="t" l="l"/>
              <a:pathLst>
                <a:path h="194906" w="2538545">
                  <a:moveTo>
                    <a:pt x="13655" y="0"/>
                  </a:moveTo>
                  <a:lnTo>
                    <a:pt x="2524890" y="0"/>
                  </a:lnTo>
                  <a:cubicBezTo>
                    <a:pt x="2532431" y="0"/>
                    <a:pt x="2538545" y="6113"/>
                    <a:pt x="2538545" y="13655"/>
                  </a:cubicBezTo>
                  <a:lnTo>
                    <a:pt x="2538545" y="181251"/>
                  </a:lnTo>
                  <a:cubicBezTo>
                    <a:pt x="2538545" y="188793"/>
                    <a:pt x="2532431" y="194906"/>
                    <a:pt x="2524890" y="194906"/>
                  </a:cubicBezTo>
                  <a:lnTo>
                    <a:pt x="13655" y="194906"/>
                  </a:lnTo>
                  <a:cubicBezTo>
                    <a:pt x="6113" y="194906"/>
                    <a:pt x="0" y="188793"/>
                    <a:pt x="0" y="181251"/>
                  </a:cubicBezTo>
                  <a:lnTo>
                    <a:pt x="0" y="13655"/>
                  </a:lnTo>
                  <a:cubicBezTo>
                    <a:pt x="0" y="6113"/>
                    <a:pt x="6113" y="0"/>
                    <a:pt x="13655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538545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44004" y="2941639"/>
            <a:ext cx="7915296" cy="5156819"/>
          </a:xfrm>
          <a:custGeom>
            <a:avLst/>
            <a:gdLst/>
            <a:ahLst/>
            <a:cxnLst/>
            <a:rect r="r" b="b" t="t" l="l"/>
            <a:pathLst>
              <a:path h="5156819" w="7915296">
                <a:moveTo>
                  <a:pt x="0" y="0"/>
                </a:moveTo>
                <a:lnTo>
                  <a:pt x="7915296" y="0"/>
                </a:lnTo>
                <a:lnTo>
                  <a:pt x="7915296" y="5156819"/>
                </a:lnTo>
                <a:lnTo>
                  <a:pt x="0" y="51568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4B8B0B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79024" y="2389909"/>
            <a:ext cx="593164" cy="571195"/>
          </a:xfrm>
          <a:custGeom>
            <a:avLst/>
            <a:gdLst/>
            <a:ahLst/>
            <a:cxnLst/>
            <a:rect r="r" b="b" t="t" l="l"/>
            <a:pathLst>
              <a:path h="571195" w="593164">
                <a:moveTo>
                  <a:pt x="0" y="0"/>
                </a:moveTo>
                <a:lnTo>
                  <a:pt x="593165" y="0"/>
                </a:lnTo>
                <a:lnTo>
                  <a:pt x="593165" y="571195"/>
                </a:lnTo>
                <a:lnTo>
                  <a:pt x="0" y="57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3408" y="3946580"/>
            <a:ext cx="524396" cy="568096"/>
          </a:xfrm>
          <a:custGeom>
            <a:avLst/>
            <a:gdLst/>
            <a:ahLst/>
            <a:cxnLst/>
            <a:rect r="r" b="b" t="t" l="l"/>
            <a:pathLst>
              <a:path h="568096" w="524396">
                <a:moveTo>
                  <a:pt x="0" y="0"/>
                </a:moveTo>
                <a:lnTo>
                  <a:pt x="524396" y="0"/>
                </a:lnTo>
                <a:lnTo>
                  <a:pt x="524396" y="568096"/>
                </a:lnTo>
                <a:lnTo>
                  <a:pt x="0" y="5680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4929" y="5772230"/>
            <a:ext cx="421356" cy="521678"/>
          </a:xfrm>
          <a:custGeom>
            <a:avLst/>
            <a:gdLst/>
            <a:ahLst/>
            <a:cxnLst/>
            <a:rect r="r" b="b" t="t" l="l"/>
            <a:pathLst>
              <a:path h="521678" w="421356">
                <a:moveTo>
                  <a:pt x="0" y="0"/>
                </a:moveTo>
                <a:lnTo>
                  <a:pt x="421355" y="0"/>
                </a:lnTo>
                <a:lnTo>
                  <a:pt x="421355" y="521678"/>
                </a:lnTo>
                <a:lnTo>
                  <a:pt x="0" y="5216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4929" y="7551208"/>
            <a:ext cx="489240" cy="530010"/>
          </a:xfrm>
          <a:custGeom>
            <a:avLst/>
            <a:gdLst/>
            <a:ahLst/>
            <a:cxnLst/>
            <a:rect r="r" b="b" t="t" l="l"/>
            <a:pathLst>
              <a:path h="530010" w="489240">
                <a:moveTo>
                  <a:pt x="0" y="0"/>
                </a:moveTo>
                <a:lnTo>
                  <a:pt x="489240" y="0"/>
                </a:lnTo>
                <a:lnTo>
                  <a:pt x="489240" y="530010"/>
                </a:lnTo>
                <a:lnTo>
                  <a:pt x="0" y="5300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87117" y="1995506"/>
            <a:ext cx="7256883" cy="166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багаторівнева структура: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Маршрутизатори (Routers) -&gt; Бізнес-логіка (Services) -&gt; Репозиторії (Data Access);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3644" y="1071118"/>
            <a:ext cx="1183272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Архітектура створенного програмного забезпечення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7117" y="3610946"/>
            <a:ext cx="6813224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Singleton ConnectionManager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координації WebSocket-з'єднань та розсилки подій;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87117" y="5177724"/>
            <a:ext cx="6813224" cy="166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гібридна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модель збереження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персистентних реляційних даних у PostgreSQL, гнучкого JSON та ефемерних станів у Redis;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7117" y="7273594"/>
            <a:ext cx="7104076" cy="124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механізм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Dependency Injection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для ізоляції запитів та безпечного управління життєвим циклом сесій бази даних.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9018" y="844274"/>
            <a:ext cx="3293971" cy="740034"/>
            <a:chOff x="0" y="0"/>
            <a:chExt cx="867548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7548" cy="194906"/>
            </a:xfrm>
            <a:custGeom>
              <a:avLst/>
              <a:gdLst/>
              <a:ahLst/>
              <a:cxnLst/>
              <a:rect r="r" b="b" t="t" l="l"/>
              <a:pathLst>
                <a:path h="194906" w="867548">
                  <a:moveTo>
                    <a:pt x="39956" y="0"/>
                  </a:moveTo>
                  <a:lnTo>
                    <a:pt x="827592" y="0"/>
                  </a:lnTo>
                  <a:cubicBezTo>
                    <a:pt x="849659" y="0"/>
                    <a:pt x="867548" y="17889"/>
                    <a:pt x="867548" y="39956"/>
                  </a:cubicBezTo>
                  <a:lnTo>
                    <a:pt x="867548" y="154950"/>
                  </a:lnTo>
                  <a:cubicBezTo>
                    <a:pt x="867548" y="177017"/>
                    <a:pt x="849659" y="194906"/>
                    <a:pt x="827592" y="194906"/>
                  </a:cubicBezTo>
                  <a:lnTo>
                    <a:pt x="39956" y="194906"/>
                  </a:lnTo>
                  <a:cubicBezTo>
                    <a:pt x="29359" y="194906"/>
                    <a:pt x="19196" y="190696"/>
                    <a:pt x="11703" y="183203"/>
                  </a:cubicBezTo>
                  <a:cubicBezTo>
                    <a:pt x="4210" y="175710"/>
                    <a:pt x="0" y="165547"/>
                    <a:pt x="0" y="154950"/>
                  </a:cubicBezTo>
                  <a:lnTo>
                    <a:pt x="0" y="39956"/>
                  </a:lnTo>
                  <a:cubicBezTo>
                    <a:pt x="0" y="17889"/>
                    <a:pt x="17889" y="0"/>
                    <a:pt x="39956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6754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3638" y="971086"/>
            <a:ext cx="1183272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Етапи розробки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656" y="1871412"/>
            <a:ext cx="16720688" cy="668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імплемен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тація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асинхронної архітектури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Non-blocking I/O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обробки високих мережевих навантажень;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розробка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Stateless-автентифікації за токенами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JWT Access/Refresh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без збереження сесій у базі даних;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реалізація захисту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від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User Enumeration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через уніфікацію відповідей при відновленні паролів;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інтеграція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Cloudflare R2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через клієнт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Boto3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 автоматичної валідацією, масштабуванням та конвертації зображень;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валідації вхідних даних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через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Pydantic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схеми та впровадження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Allowlist-валідації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зовнішніх посилань для захисту від XSS-атак;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автентифікація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WebSocket-з'єднань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за допомогою передачі JWT у Query-параметрах на етапі Handshake;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розробка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механізму «м'якого відключення» із grace-періодом для збереження ігрового прогресу при розриві зв'язку;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адресна доставка повідомлень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кімнат та оптимізований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broadcast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із одноразовою серіалізацією </a:t>
            </a: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JSON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перед розсилкою;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налаштування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асинхронних фонових задач для надсилання листів.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83790" y="1082654"/>
            <a:ext cx="5604420" cy="740034"/>
            <a:chOff x="0" y="0"/>
            <a:chExt cx="1476061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6061" cy="194906"/>
            </a:xfrm>
            <a:custGeom>
              <a:avLst/>
              <a:gdLst/>
              <a:ahLst/>
              <a:cxnLst/>
              <a:rect r="r" b="b" t="t" l="l"/>
              <a:pathLst>
                <a:path h="194906" w="1476061">
                  <a:moveTo>
                    <a:pt x="23484" y="0"/>
                  </a:moveTo>
                  <a:lnTo>
                    <a:pt x="1452577" y="0"/>
                  </a:lnTo>
                  <a:cubicBezTo>
                    <a:pt x="1465547" y="0"/>
                    <a:pt x="1476061" y="10514"/>
                    <a:pt x="1476061" y="23484"/>
                  </a:cubicBezTo>
                  <a:lnTo>
                    <a:pt x="1476061" y="171422"/>
                  </a:lnTo>
                  <a:cubicBezTo>
                    <a:pt x="1476061" y="184392"/>
                    <a:pt x="1465547" y="194906"/>
                    <a:pt x="1452577" y="194906"/>
                  </a:cubicBezTo>
                  <a:lnTo>
                    <a:pt x="23484" y="194906"/>
                  </a:lnTo>
                  <a:cubicBezTo>
                    <a:pt x="10514" y="194906"/>
                    <a:pt x="0" y="184392"/>
                    <a:pt x="0" y="171422"/>
                  </a:cubicBezTo>
                  <a:lnTo>
                    <a:pt x="0" y="23484"/>
                  </a:lnTo>
                  <a:cubicBezTo>
                    <a:pt x="0" y="10514"/>
                    <a:pt x="10514" y="0"/>
                    <a:pt x="23484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76061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677047" y="2403887"/>
            <a:ext cx="9969805" cy="6018593"/>
          </a:xfrm>
          <a:custGeom>
            <a:avLst/>
            <a:gdLst/>
            <a:ahLst/>
            <a:cxnLst/>
            <a:rect r="r" b="b" t="t" l="l"/>
            <a:pathLst>
              <a:path h="6018593" w="9969805">
                <a:moveTo>
                  <a:pt x="0" y="0"/>
                </a:moveTo>
                <a:lnTo>
                  <a:pt x="9969805" y="0"/>
                </a:lnTo>
                <a:lnTo>
                  <a:pt x="9969805" y="6018593"/>
                </a:lnTo>
                <a:lnTo>
                  <a:pt x="0" y="60185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410" y="1209466"/>
            <a:ext cx="11832725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Приклад реалізації: Bulk Sync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83790" y="2945040"/>
            <a:ext cx="6692752" cy="166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Розроблено метод, який дозволяє клієнту надсилати бажаний стан всієї колекції мапи чи карток одним запитом. 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90318" y="5356034"/>
            <a:ext cx="3532584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4B8B0B"/>
                </a:solidFill>
                <a:latin typeface="DM Sans Bold"/>
                <a:ea typeface="DM Sans Bold"/>
                <a:cs typeface="DM Sans Bold"/>
                <a:sym typeface="DM Sans Bold"/>
              </a:rPr>
              <a:t>Переваги алгоритму: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27782" y="5965279"/>
            <a:ext cx="6831313" cy="238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мінімізація мережевих затримок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через єдиний транзакційний запит;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automatic детекція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видалених, оновлених та нових елементів контенту;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гарантована атомарність та цілісність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складних структур ігрових карт.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0444" y="517302"/>
            <a:ext cx="4684913" cy="740034"/>
            <a:chOff x="0" y="0"/>
            <a:chExt cx="1233887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3887" cy="194906"/>
            </a:xfrm>
            <a:custGeom>
              <a:avLst/>
              <a:gdLst/>
              <a:ahLst/>
              <a:cxnLst/>
              <a:rect r="r" b="b" t="t" l="l"/>
              <a:pathLst>
                <a:path h="194906" w="1233887">
                  <a:moveTo>
                    <a:pt x="28093" y="0"/>
                  </a:moveTo>
                  <a:lnTo>
                    <a:pt x="1205794" y="0"/>
                  </a:lnTo>
                  <a:cubicBezTo>
                    <a:pt x="1213244" y="0"/>
                    <a:pt x="1220390" y="2960"/>
                    <a:pt x="1225658" y="8228"/>
                  </a:cubicBezTo>
                  <a:cubicBezTo>
                    <a:pt x="1230927" y="13497"/>
                    <a:pt x="1233887" y="20642"/>
                    <a:pt x="1233887" y="28093"/>
                  </a:cubicBezTo>
                  <a:lnTo>
                    <a:pt x="1233887" y="166813"/>
                  </a:lnTo>
                  <a:cubicBezTo>
                    <a:pt x="1233887" y="182328"/>
                    <a:pt x="1221309" y="194906"/>
                    <a:pt x="1205794" y="194906"/>
                  </a:cubicBezTo>
                  <a:lnTo>
                    <a:pt x="28093" y="194906"/>
                  </a:lnTo>
                  <a:cubicBezTo>
                    <a:pt x="20642" y="194906"/>
                    <a:pt x="13497" y="191946"/>
                    <a:pt x="8228" y="186678"/>
                  </a:cubicBezTo>
                  <a:cubicBezTo>
                    <a:pt x="2960" y="181409"/>
                    <a:pt x="0" y="174264"/>
                    <a:pt x="0" y="166813"/>
                  </a:cubicBezTo>
                  <a:lnTo>
                    <a:pt x="0" y="28093"/>
                  </a:lnTo>
                  <a:cubicBezTo>
                    <a:pt x="0" y="12578"/>
                    <a:pt x="12578" y="0"/>
                    <a:pt x="28093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33887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19018" y="1520987"/>
            <a:ext cx="7007596" cy="3622513"/>
          </a:xfrm>
          <a:custGeom>
            <a:avLst/>
            <a:gdLst/>
            <a:ahLst/>
            <a:cxnLst/>
            <a:rect r="r" b="b" t="t" l="l"/>
            <a:pathLst>
              <a:path h="3622513" w="7007596">
                <a:moveTo>
                  <a:pt x="0" y="0"/>
                </a:moveTo>
                <a:lnTo>
                  <a:pt x="7007596" y="0"/>
                </a:lnTo>
                <a:lnTo>
                  <a:pt x="7007596" y="3622513"/>
                </a:lnTo>
                <a:lnTo>
                  <a:pt x="0" y="36225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ACAFAC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318451" y="1520987"/>
            <a:ext cx="6988111" cy="3622513"/>
          </a:xfrm>
          <a:custGeom>
            <a:avLst/>
            <a:gdLst/>
            <a:ahLst/>
            <a:cxnLst/>
            <a:rect r="r" b="b" t="t" l="l"/>
            <a:pathLst>
              <a:path h="3622513" w="6988111">
                <a:moveTo>
                  <a:pt x="0" y="0"/>
                </a:moveTo>
                <a:lnTo>
                  <a:pt x="6988111" y="0"/>
                </a:lnTo>
                <a:lnTo>
                  <a:pt x="6988111" y="3622513"/>
                </a:lnTo>
                <a:lnTo>
                  <a:pt x="0" y="36225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ACAFAC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063848" y="6109143"/>
            <a:ext cx="7668148" cy="3622513"/>
          </a:xfrm>
          <a:custGeom>
            <a:avLst/>
            <a:gdLst/>
            <a:ahLst/>
            <a:cxnLst/>
            <a:rect r="r" b="b" t="t" l="l"/>
            <a:pathLst>
              <a:path h="3622513" w="7668148">
                <a:moveTo>
                  <a:pt x="0" y="0"/>
                </a:moveTo>
                <a:lnTo>
                  <a:pt x="7668148" y="0"/>
                </a:lnTo>
                <a:lnTo>
                  <a:pt x="7668148" y="3622513"/>
                </a:lnTo>
                <a:lnTo>
                  <a:pt x="0" y="36225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ACAFAC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545064" y="644114"/>
            <a:ext cx="4440293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 користувача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150659" y="9069338"/>
            <a:ext cx="342305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9018" y="5359211"/>
            <a:ext cx="6105426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 документація Swagger 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18451" y="5359211"/>
            <a:ext cx="501580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 конструктора мап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43116" y="8786495"/>
            <a:ext cx="4295751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 активного ігрового процесу 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0444" y="1213693"/>
            <a:ext cx="4099745" cy="740034"/>
            <a:chOff x="0" y="0"/>
            <a:chExt cx="1079768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768" cy="194906"/>
            </a:xfrm>
            <a:custGeom>
              <a:avLst/>
              <a:gdLst/>
              <a:ahLst/>
              <a:cxnLst/>
              <a:rect r="r" b="b" t="t" l="l"/>
              <a:pathLst>
                <a:path h="194906" w="1079768">
                  <a:moveTo>
                    <a:pt x="32103" y="0"/>
                  </a:moveTo>
                  <a:lnTo>
                    <a:pt x="1047666" y="0"/>
                  </a:lnTo>
                  <a:cubicBezTo>
                    <a:pt x="1065396" y="0"/>
                    <a:pt x="1079768" y="14373"/>
                    <a:pt x="1079768" y="32103"/>
                  </a:cubicBezTo>
                  <a:lnTo>
                    <a:pt x="1079768" y="162803"/>
                  </a:lnTo>
                  <a:cubicBezTo>
                    <a:pt x="1079768" y="171318"/>
                    <a:pt x="1076386" y="179483"/>
                    <a:pt x="1070366" y="185503"/>
                  </a:cubicBezTo>
                  <a:cubicBezTo>
                    <a:pt x="1064345" y="191524"/>
                    <a:pt x="1056180" y="194906"/>
                    <a:pt x="1047666" y="194906"/>
                  </a:cubicBezTo>
                  <a:lnTo>
                    <a:pt x="32103" y="194906"/>
                  </a:lnTo>
                  <a:cubicBezTo>
                    <a:pt x="14373" y="194906"/>
                    <a:pt x="0" y="180533"/>
                    <a:pt x="0" y="162803"/>
                  </a:cubicBezTo>
                  <a:lnTo>
                    <a:pt x="0" y="32103"/>
                  </a:lnTo>
                  <a:cubicBezTo>
                    <a:pt x="0" y="14373"/>
                    <a:pt x="14373" y="0"/>
                    <a:pt x="32103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7976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39436" y="5814669"/>
            <a:ext cx="11964244" cy="3219806"/>
          </a:xfrm>
          <a:custGeom>
            <a:avLst/>
            <a:gdLst/>
            <a:ahLst/>
            <a:cxnLst/>
            <a:rect r="r" b="b" t="t" l="l"/>
            <a:pathLst>
              <a:path h="3219806" w="11964244">
                <a:moveTo>
                  <a:pt x="0" y="0"/>
                </a:moveTo>
                <a:lnTo>
                  <a:pt x="11964245" y="0"/>
                </a:lnTo>
                <a:lnTo>
                  <a:pt x="11964245" y="3219806"/>
                </a:lnTo>
                <a:lnTo>
                  <a:pt x="0" y="32198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14198" y="1981747"/>
            <a:ext cx="614721" cy="665947"/>
          </a:xfrm>
          <a:custGeom>
            <a:avLst/>
            <a:gdLst/>
            <a:ahLst/>
            <a:cxnLst/>
            <a:rect r="r" b="b" t="t" l="l"/>
            <a:pathLst>
              <a:path h="665947" w="614721">
                <a:moveTo>
                  <a:pt x="0" y="0"/>
                </a:moveTo>
                <a:lnTo>
                  <a:pt x="614721" y="0"/>
                </a:lnTo>
                <a:lnTo>
                  <a:pt x="614721" y="665948"/>
                </a:lnTo>
                <a:lnTo>
                  <a:pt x="0" y="6659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48335" y="3143773"/>
            <a:ext cx="746448" cy="646922"/>
          </a:xfrm>
          <a:custGeom>
            <a:avLst/>
            <a:gdLst/>
            <a:ahLst/>
            <a:cxnLst/>
            <a:rect r="r" b="b" t="t" l="l"/>
            <a:pathLst>
              <a:path h="646922" w="746448">
                <a:moveTo>
                  <a:pt x="0" y="0"/>
                </a:moveTo>
                <a:lnTo>
                  <a:pt x="746448" y="0"/>
                </a:lnTo>
                <a:lnTo>
                  <a:pt x="746448" y="646922"/>
                </a:lnTo>
                <a:lnTo>
                  <a:pt x="0" y="6469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58393" y="4497808"/>
            <a:ext cx="670526" cy="645692"/>
          </a:xfrm>
          <a:custGeom>
            <a:avLst/>
            <a:gdLst/>
            <a:ahLst/>
            <a:cxnLst/>
            <a:rect r="r" b="b" t="t" l="l"/>
            <a:pathLst>
              <a:path h="645692" w="670526">
                <a:moveTo>
                  <a:pt x="0" y="0"/>
                </a:moveTo>
                <a:lnTo>
                  <a:pt x="670526" y="0"/>
                </a:lnTo>
                <a:lnTo>
                  <a:pt x="670526" y="645692"/>
                </a:lnTo>
                <a:lnTo>
                  <a:pt x="0" y="6456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45064" y="1340505"/>
            <a:ext cx="4359232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Тестування та якість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0444" y="2352420"/>
            <a:ext cx="5321204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b="true" sz="15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300+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5064" y="4704715"/>
            <a:ext cx="373826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Unit &amp; Integration Tests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4198" y="981075"/>
            <a:ext cx="384026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Стратегія верифікації: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0137" y="1906102"/>
            <a:ext cx="7635796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модульне тестування ігрової логіки станів (State Machine);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490137" y="3061054"/>
            <a:ext cx="8002827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інтеграційне тестування REST API та WebSocket in-process;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490137" y="4413859"/>
            <a:ext cx="8243713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ізоляція I/O-операцій через Mock-об'єкти для стабільності тестів.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0444" y="842981"/>
            <a:ext cx="2132621" cy="740034"/>
            <a:chOff x="0" y="0"/>
            <a:chExt cx="561678" cy="194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1678" cy="194906"/>
            </a:xfrm>
            <a:custGeom>
              <a:avLst/>
              <a:gdLst/>
              <a:ahLst/>
              <a:cxnLst/>
              <a:rect r="r" b="b" t="t" l="l"/>
              <a:pathLst>
                <a:path h="194906" w="561678">
                  <a:moveTo>
                    <a:pt x="61714" y="0"/>
                  </a:moveTo>
                  <a:lnTo>
                    <a:pt x="499964" y="0"/>
                  </a:lnTo>
                  <a:cubicBezTo>
                    <a:pt x="516332" y="0"/>
                    <a:pt x="532029" y="6502"/>
                    <a:pt x="543602" y="18076"/>
                  </a:cubicBezTo>
                  <a:cubicBezTo>
                    <a:pt x="555176" y="29649"/>
                    <a:pt x="561678" y="45346"/>
                    <a:pt x="561678" y="61714"/>
                  </a:cubicBezTo>
                  <a:lnTo>
                    <a:pt x="561678" y="133192"/>
                  </a:lnTo>
                  <a:cubicBezTo>
                    <a:pt x="561678" y="149560"/>
                    <a:pt x="555176" y="165257"/>
                    <a:pt x="543602" y="176830"/>
                  </a:cubicBezTo>
                  <a:cubicBezTo>
                    <a:pt x="532029" y="188404"/>
                    <a:pt x="516332" y="194906"/>
                    <a:pt x="499964" y="194906"/>
                  </a:cubicBezTo>
                  <a:lnTo>
                    <a:pt x="61714" y="194906"/>
                  </a:lnTo>
                  <a:cubicBezTo>
                    <a:pt x="45346" y="194906"/>
                    <a:pt x="29649" y="188404"/>
                    <a:pt x="18076" y="176830"/>
                  </a:cubicBezTo>
                  <a:cubicBezTo>
                    <a:pt x="6502" y="165257"/>
                    <a:pt x="0" y="149560"/>
                    <a:pt x="0" y="133192"/>
                  </a:cubicBezTo>
                  <a:lnTo>
                    <a:pt x="0" y="61714"/>
                  </a:lnTo>
                  <a:cubicBezTo>
                    <a:pt x="0" y="45346"/>
                    <a:pt x="6502" y="29649"/>
                    <a:pt x="18076" y="18076"/>
                  </a:cubicBezTo>
                  <a:cubicBezTo>
                    <a:pt x="29649" y="6502"/>
                    <a:pt x="45346" y="0"/>
                    <a:pt x="61714" y="0"/>
                  </a:cubicBezTo>
                  <a:close/>
                </a:path>
              </a:pathLst>
            </a:custGeom>
            <a:solidFill>
              <a:srgbClr val="4B8B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6167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45064" y="969794"/>
            <a:ext cx="202592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Підсумки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6864" y="1984381"/>
            <a:ext cx="5387604" cy="6439568"/>
            <a:chOff x="0" y="0"/>
            <a:chExt cx="1418957" cy="16960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8957" cy="1696018"/>
            </a:xfrm>
            <a:custGeom>
              <a:avLst/>
              <a:gdLst/>
              <a:ahLst/>
              <a:cxnLst/>
              <a:rect r="r" b="b" t="t" l="l"/>
              <a:pathLst>
                <a:path h="1696018" w="1418957">
                  <a:moveTo>
                    <a:pt x="24429" y="0"/>
                  </a:moveTo>
                  <a:lnTo>
                    <a:pt x="1394529" y="0"/>
                  </a:lnTo>
                  <a:cubicBezTo>
                    <a:pt x="1408020" y="0"/>
                    <a:pt x="1418957" y="10937"/>
                    <a:pt x="1418957" y="24429"/>
                  </a:cubicBezTo>
                  <a:lnTo>
                    <a:pt x="1418957" y="1671589"/>
                  </a:lnTo>
                  <a:cubicBezTo>
                    <a:pt x="1418957" y="1678068"/>
                    <a:pt x="1416384" y="1684282"/>
                    <a:pt x="1411802" y="1688863"/>
                  </a:cubicBezTo>
                  <a:cubicBezTo>
                    <a:pt x="1407221" y="1693444"/>
                    <a:pt x="1401008" y="1696018"/>
                    <a:pt x="1394529" y="1696018"/>
                  </a:cubicBezTo>
                  <a:lnTo>
                    <a:pt x="24429" y="1696018"/>
                  </a:lnTo>
                  <a:cubicBezTo>
                    <a:pt x="17950" y="1696018"/>
                    <a:pt x="11736" y="1693444"/>
                    <a:pt x="7155" y="1688863"/>
                  </a:cubicBezTo>
                  <a:cubicBezTo>
                    <a:pt x="2574" y="1684282"/>
                    <a:pt x="0" y="1678068"/>
                    <a:pt x="0" y="1671589"/>
                  </a:cubicBezTo>
                  <a:lnTo>
                    <a:pt x="0" y="24429"/>
                  </a:lnTo>
                  <a:cubicBezTo>
                    <a:pt x="0" y="17950"/>
                    <a:pt x="2574" y="11736"/>
                    <a:pt x="7155" y="7155"/>
                  </a:cubicBezTo>
                  <a:cubicBezTo>
                    <a:pt x="11736" y="2574"/>
                    <a:pt x="17950" y="0"/>
                    <a:pt x="244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18957" cy="1743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47182" y="2348905"/>
            <a:ext cx="4641240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Реалістичність та практична цінність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182" y="3827185"/>
            <a:ext cx="4828087" cy="459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Розроблена архітектура є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життєздатною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та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готовою до експлуатації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Гібридне сховище (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PostgreSQL + Redis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 та асинхронний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REST API + WebSocet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довели свою ефективність, а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CI/CD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з автотестами гарантує високу стабільність коду.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6399715" y="1984381"/>
            <a:ext cx="5387604" cy="6439568"/>
            <a:chOff x="0" y="0"/>
            <a:chExt cx="1418957" cy="16960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8957" cy="1696018"/>
            </a:xfrm>
            <a:custGeom>
              <a:avLst/>
              <a:gdLst/>
              <a:ahLst/>
              <a:cxnLst/>
              <a:rect r="r" b="b" t="t" l="l"/>
              <a:pathLst>
                <a:path h="1696018" w="1418957">
                  <a:moveTo>
                    <a:pt x="24429" y="0"/>
                  </a:moveTo>
                  <a:lnTo>
                    <a:pt x="1394529" y="0"/>
                  </a:lnTo>
                  <a:cubicBezTo>
                    <a:pt x="1408020" y="0"/>
                    <a:pt x="1418957" y="10937"/>
                    <a:pt x="1418957" y="24429"/>
                  </a:cubicBezTo>
                  <a:lnTo>
                    <a:pt x="1418957" y="1671589"/>
                  </a:lnTo>
                  <a:cubicBezTo>
                    <a:pt x="1418957" y="1678068"/>
                    <a:pt x="1416384" y="1684282"/>
                    <a:pt x="1411802" y="1688863"/>
                  </a:cubicBezTo>
                  <a:cubicBezTo>
                    <a:pt x="1407221" y="1693444"/>
                    <a:pt x="1401008" y="1696018"/>
                    <a:pt x="1394529" y="1696018"/>
                  </a:cubicBezTo>
                  <a:lnTo>
                    <a:pt x="24429" y="1696018"/>
                  </a:lnTo>
                  <a:cubicBezTo>
                    <a:pt x="17950" y="1696018"/>
                    <a:pt x="11736" y="1693444"/>
                    <a:pt x="7155" y="1688863"/>
                  </a:cubicBezTo>
                  <a:cubicBezTo>
                    <a:pt x="2574" y="1684282"/>
                    <a:pt x="0" y="1678068"/>
                    <a:pt x="0" y="1671589"/>
                  </a:cubicBezTo>
                  <a:lnTo>
                    <a:pt x="0" y="24429"/>
                  </a:lnTo>
                  <a:cubicBezTo>
                    <a:pt x="0" y="17950"/>
                    <a:pt x="2574" y="11736"/>
                    <a:pt x="7155" y="7155"/>
                  </a:cubicBezTo>
                  <a:cubicBezTo>
                    <a:pt x="11736" y="2574"/>
                    <a:pt x="17950" y="0"/>
                    <a:pt x="244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418957" cy="1743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690033" y="2348905"/>
            <a:ext cx="464124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Сфери використання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90033" y="3310523"/>
            <a:ext cx="4828087" cy="459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латформа має високий потенціал адаптації: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від розважальних порталів до освітніх гейміфікованих сервісів.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Гнучка модель даних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дозволяє інтегрувати систему в корпоративне середовище для тімбілдінгів та інтерактивних заходів.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43532" y="1984381"/>
            <a:ext cx="5387604" cy="6439568"/>
            <a:chOff x="0" y="0"/>
            <a:chExt cx="1418957" cy="16960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8957" cy="1696018"/>
            </a:xfrm>
            <a:custGeom>
              <a:avLst/>
              <a:gdLst/>
              <a:ahLst/>
              <a:cxnLst/>
              <a:rect r="r" b="b" t="t" l="l"/>
              <a:pathLst>
                <a:path h="1696018" w="1418957">
                  <a:moveTo>
                    <a:pt x="24429" y="0"/>
                  </a:moveTo>
                  <a:lnTo>
                    <a:pt x="1394529" y="0"/>
                  </a:lnTo>
                  <a:cubicBezTo>
                    <a:pt x="1408020" y="0"/>
                    <a:pt x="1418957" y="10937"/>
                    <a:pt x="1418957" y="24429"/>
                  </a:cubicBezTo>
                  <a:lnTo>
                    <a:pt x="1418957" y="1671589"/>
                  </a:lnTo>
                  <a:cubicBezTo>
                    <a:pt x="1418957" y="1678068"/>
                    <a:pt x="1416384" y="1684282"/>
                    <a:pt x="1411802" y="1688863"/>
                  </a:cubicBezTo>
                  <a:cubicBezTo>
                    <a:pt x="1407221" y="1693444"/>
                    <a:pt x="1401008" y="1696018"/>
                    <a:pt x="1394529" y="1696018"/>
                  </a:cubicBezTo>
                  <a:lnTo>
                    <a:pt x="24429" y="1696018"/>
                  </a:lnTo>
                  <a:cubicBezTo>
                    <a:pt x="17950" y="1696018"/>
                    <a:pt x="11736" y="1693444"/>
                    <a:pt x="7155" y="1688863"/>
                  </a:cubicBezTo>
                  <a:cubicBezTo>
                    <a:pt x="2574" y="1684282"/>
                    <a:pt x="0" y="1678068"/>
                    <a:pt x="0" y="1671589"/>
                  </a:cubicBezTo>
                  <a:lnTo>
                    <a:pt x="0" y="24429"/>
                  </a:lnTo>
                  <a:cubicBezTo>
                    <a:pt x="0" y="17950"/>
                    <a:pt x="2574" y="11736"/>
                    <a:pt x="7155" y="7155"/>
                  </a:cubicBezTo>
                  <a:cubicBezTo>
                    <a:pt x="11736" y="2574"/>
                    <a:pt x="17950" y="0"/>
                    <a:pt x="244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B8B0B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18957" cy="1743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433850" y="2348905"/>
            <a:ext cx="4692084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Перспективи розвитку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433850" y="3972600"/>
            <a:ext cx="4828087" cy="417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одальший розвиток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системи передбачає впровадження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нових ігрових механік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що розширить ігровий досвід. Інфраструктурно планується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горизонтальне масштабування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WebSocket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через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Redis Pub/Sub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для підтримки тисяч одночасних сесій.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DAHOruaVGf0</dc:identifier>
  <dcterms:modified xsi:type="dcterms:W3CDTF">2011-08-01T06:04:30Z</dcterms:modified>
  <cp:revision>1</cp:revision>
  <dc:title>2026_Б_ПІ_ПЗПІ_22_7_Лісовий_Н_А</dc:title>
</cp:coreProperties>
</file>